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scCO₂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Regulation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1148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computer control for supercritical CO₂ research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· Python PID · Peng-Robinson EOS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Research  |  University of Michigan–Dearborn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Supercritical CO₂?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becomes supercritical above 31.1°C and 7.38 MPa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liquid and a gas at the same time — high density, low viscosity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Dissolves materials like a liquid but flows like a gas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extraction, sterilization, and materials processing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Non-toxic, non-flammable, and leaves no residue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822960"/>
            <a:ext cx="3291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822960"/>
            <a:ext cx="1645920" cy="19659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822960"/>
            <a:ext cx="1645920" cy="196596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2788920"/>
            <a:ext cx="1645920" cy="1965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788920"/>
            <a:ext cx="1645920" cy="19659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SUPERCRITICAL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Pressure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= 31.1°C  Pc = 7.38 MPa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822960"/>
            <a:ext cx="0" cy="3931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78892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operates at 60°C, up to 28 MPa — deep in the supercritical zone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Targets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347472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MPa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Operating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188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4,061 PSI — vessel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to 34.5 MPa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20240" cy="347472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kPa/min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16352" y="2651760"/>
            <a:ext cx="1188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ramp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thermal shock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920240" cy="347472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±0.30 MPa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92624" y="2651760"/>
            <a:ext cx="1188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hold PID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1920240" cy="347472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03136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68896" y="2651760"/>
            <a:ext cx="1188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Tc to ensure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supercritical phase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controlled autonomously — operator sets target, system handles the rest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554480" cy="1371600"/>
          </a:xfrm>
          <a:prstGeom prst="rect">
            <a:avLst/>
          </a:prstGeom>
          <a:solidFill>
            <a:srgbClr val="0A234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Dry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MPa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64592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960120"/>
            <a:ext cx="1554480" cy="1371600"/>
          </a:xfrm>
          <a:prstGeom prst="rect">
            <a:avLst/>
          </a:prstGeom>
          <a:solidFill>
            <a:srgbClr val="0A234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Air-Driven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 5G-TD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MPa max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64592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960120"/>
            <a:ext cx="1554480" cy="1371600"/>
          </a:xfrm>
          <a:prstGeom prst="rect">
            <a:avLst/>
          </a:prstGeom>
          <a:solidFill>
            <a:srgbClr val="0A234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64592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960120"/>
            <a:ext cx="1554480" cy="1371600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1L, 316SS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 MPa rated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64592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960120"/>
            <a:ext cx="1554480" cy="1371600"/>
          </a:xfrm>
          <a:prstGeom prst="rect">
            <a:avLst/>
          </a:prstGeom>
          <a:solidFill>
            <a:srgbClr val="0A234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880360"/>
            <a:ext cx="27432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004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PID Control  |  10 Hz  |  GUI + Logging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880360"/>
            <a:ext cx="0" cy="-5486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2880360"/>
            <a:ext cx="0" cy="-5486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514600"/>
            <a:ext cx="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999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sensor feedback  |  Teal = control signal  |  White arrows = gas flow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List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5196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PARR Pressure Vessel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1L, 316SS, 5000 PSI, Model 2302HC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HII Gas Booster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5G-TD-28/150-CO2, 25,000 PSI max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Amplifies CO₂ to operating 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Cylinder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Dry, UN1013, 50 lb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gas supply (≥99.8% pure)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Motorized Needle Valve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Stepper-driven, high pressure 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pressurization flow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 Solenoid Valve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PWM-controlled, normally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depressurization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Relief Valve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Parker SS316, 1/4" MNPT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overpressure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Transducer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Ashcroft 0–5000 PSI, 4–20 mA, IP67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pressure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INKBIRD 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Setpoint 60°C, stable ±0.01°C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temperature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3.11, 10 Hz control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16-bit, I²C, 4-channel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4–20 mA transducer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Motor +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 17, A4988, 1/16 microstepping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Actuates needle valve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 Rail PSU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Dayton 33NT20, 24VDC 50W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24V system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24VDC coil, 10A contacts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drives solenoid valve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920240"/>
          </a:xfrm>
          <a:prstGeom prst="rect">
            <a:avLst/>
          </a:prstGeom>
          <a:solidFill>
            <a:srgbClr val="33415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closed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check ≥55°C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4114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960120"/>
            <a:ext cx="1920240" cy="192024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06040" y="1481328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55448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ramps pressure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kPa/min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Kp=40 Ki=5 Kd=2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920240"/>
            <a:ext cx="4114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960120"/>
            <a:ext cx="1920240" cy="192024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481328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55448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holds setpoint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±0.30 MPa 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Kp=20 Ki=2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4114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960120"/>
            <a:ext cx="1920240" cy="1920240"/>
          </a:xfrm>
          <a:prstGeom prst="rect">
            <a:avLst/>
          </a:prstGeom>
          <a:solidFill>
            <a:srgbClr val="33415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DEPRESSURIZE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1481328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55448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vents slowly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MPa/min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Kp=60 Ki=8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Interlocks (active in ALL states)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Overpressure cutoff at 28.5 MPa — forces IDLE immediately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limiter: closes all valves if pressure rises &gt; 5 MPa/min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gate: pressurization blocked below 55°C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Watchdog: forces IDLE if control loop stalls for &gt; 1 second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Model — Real CO₂ Behavior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Peng-Robinson Equation of State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3891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20+ MPa, CO₂ is up to 118% denser than ideal gas predicts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uses PR-EOS so pressure predictions are physically accurate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0.01°C temperature flicker moves pressure by 3.5 kPa at 20 MPa — not 0.6 kPa as ideal gas predicts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most in the HOLD phase where stability is critical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822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Z-factor &amp; Density at 60°C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98448"/>
          <a:ext cx="374904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vs Ideal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+26% denser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+84% denser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+118% denser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+82% denser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At 20 MPa, ideal gas is off by 2× — PR-EOS corrects this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05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control thread, watchdog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05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control/pid.py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with anti-windup, derivative on measurement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73352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control/ramp.py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ramp setpoint generator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673352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673352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control/eos.py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Peng-Robinson EOS — real CO₂ physics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78024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78024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control/state_machine.py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2798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IDLE/PRESSURIZE/HOLD/DEPRESSURIZE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478024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78024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hardware/simulator.py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798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physics simulation (10 Hz)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82696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82696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319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hardware/rpi_hardware.py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GPIO/ADS1115 (hardware stub)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282696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282696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319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Matplotlib live dashboard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87368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87368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123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logger.py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8912" y="4407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timestamped experiment logs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087368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87368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123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cloud.py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73752" y="4407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real-time cloud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33272"/>
            <a:ext cx="411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RPi Hardware Driver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ADS1115 for pressure transducer, stepper GPIO for needle valve, relay for solenoid — the final step before real hardware runs.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960120" cy="32004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033272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Gain Re-Tuning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PR-EOS shows CO₂ is 5-6× more pressure-sensitive to temperature at 20+ MPa. Hold PID gains need verification in updated simulation.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26680" y="1051560"/>
            <a:ext cx="96012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051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044952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Cv Calibration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timed pressurization at fixed valve opening, back-calculate Cv from pressure rise + PR-EOS density to remove last empirical constant.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063240"/>
            <a:ext cx="96012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63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8036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044952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Digital Twin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18888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build_model.m + PID Tuner with Simscape Fluids to get analytically-tuned gains. Export to config.py via export_gains.m.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3063240"/>
            <a:ext cx="96012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3063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a fully automated scCO₂ pressure control system from scratch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3-PID state machine (PRESSURIZE / HOLD / DEPRESSURIZE) running at 10 Hz on Raspberry 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simulator uses Peng-Robinson EOS — captures real CO₂ behavior at 20–28 MPa with 5–6× better accuracy than ideal gas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layer allows the same Python code to run in Windows simulation or on real RPi hardware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GUI dashboard + CSV logging + ThingSpeak cloud monitoring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validated in simulation against PARR vessel (1L, 34.5 MPa rated) and HII booster (172 MPa max output)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scCO2 Pressure Regulation System</dc:title>
  <dc:subject>PptxGenJS Presentation</dc:subject>
  <dc:creator>PptxGenJS</dc:creator>
  <cp:lastModifiedBy>PptxGenJS</cp:lastModifiedBy>
  <cp:revision>1</cp:revision>
  <dcterms:created xsi:type="dcterms:W3CDTF">2026-04-16T18:37:34Z</dcterms:created>
  <dcterms:modified xsi:type="dcterms:W3CDTF">2026-04-16T18:37:34Z</dcterms:modified>
</cp:coreProperties>
</file>