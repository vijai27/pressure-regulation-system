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10"/>
  </p:normalViewPr>
  <p:slideViewPr>
    <p:cSldViewPr snapToGrid="0" snapToObjects="1">
      <p:cViewPr varScale="1">
        <p:scale>
          <a:sx n="218" d="100"/>
          <a:sy n="218" d="100"/>
        </p:scale>
        <p:origin x="268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956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2560320" cy="2560320"/>
          </a:xfrm>
          <a:prstGeom prst="ellipse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640080"/>
            <a:ext cx="1828800" cy="18288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6459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RESEARCH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47472" y="1234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 Software — Implementation Plan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" y="4681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Taub Research Group   |   University of Michigan MSE   | 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Pressurization rates vary unpredictably with manual valve adjustment — irreproducible experiments.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64008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Dependent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change based on who runs the experiment and how attentive they are at any given moment.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64008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Logging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2644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vs. time data must be recorded manually — error-prone, incomplete, hard to reproduce.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0360"/>
            <a:ext cx="64008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32644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overpressure protection or controlled emergency depressurization procedure.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Requirement:  Constant, reproducible rates — 350 kPa/min pressurize  /  2 MPa/min depressurize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Software Solution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Digital Twin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 physics model of the CO₂ vessel in MATLAB Simulink + Simscape.
Use the interactive PID Tuner to find optimal control gains before hardware arrives.
No hardware needed — validate everything in software first.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71600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Control Application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runtime control system running on Raspberry Pi — deployed when hardware arrives.
Simulation mode on Windows for development and testing right now.
One line of code to switch from simulation to real hardware.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3931920" cy="50292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34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~$0  (open source Python + free MATLAB license)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4434840"/>
            <a:ext cx="3931920" cy="50292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434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4 – 6 weeks (parallel with hardware procurement)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PRESSURIZATION PATH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234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0876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 MPa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0" y="193852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508760"/>
            <a:ext cx="1234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50876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MPa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0" y="193852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63240" y="1508760"/>
            <a:ext cx="1234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150876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Air-Driven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MPa max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93852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34840" y="1508760"/>
            <a:ext cx="12344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150876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Valve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0" y="193852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06440" y="1508760"/>
            <a:ext cx="1234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150876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40880" y="193852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78040" y="1508760"/>
            <a:ext cx="1234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150876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MPa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2514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DEPRESSURIZATION PATH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2816352"/>
            <a:ext cx="123444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281635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32004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06440" y="2816352"/>
            <a:ext cx="123444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06440" y="281635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Vent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69280" y="32004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34840" y="2816352"/>
            <a:ext cx="123444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434840" y="281635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Valve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(flow limiter)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97680" y="32004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◀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16352"/>
            <a:ext cx="123444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063240" y="281635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Fume Hood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90688" y="2377440"/>
            <a:ext cx="0" cy="43891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365760" y="3703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78040" y="4005072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178040" y="4005072"/>
            <a:ext cx="1645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4-20mA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12280" y="4416552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43251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8090"/>
                </a:solidFill>
              </a:rPr>
              <a:t>◀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166360" y="4005072"/>
            <a:ext cx="1645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66360" y="4005072"/>
            <a:ext cx="1645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(PID)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00600" y="4416552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3251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8090"/>
                </a:solidFill>
              </a:rPr>
              <a:t>◀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54680" y="4005072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154680" y="4005072"/>
            <a:ext cx="1645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Motorized Valve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(pressurize)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88920" y="4416552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0" y="43251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8090"/>
                </a:solidFill>
              </a:rPr>
              <a:t>◀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43000" y="4005072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143000" y="4005072"/>
            <a:ext cx="1645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Solenoid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(depressurize)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 Layer: same code runs in Windows simulation or on real Raspberry Pi hardware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Simulink Digital Twin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Validate control algorithm and tune PID gains before hardware arrives — no risk, no cost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728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Simscape Gas &amp; Thermal Library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CO₂ flow blocks — no need to derive equations manually. Connect components like a P&amp;ID diagram.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054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78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Booster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7157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∝ valve_opening × √(Pₙₒₒₜₒᵉ − Pᵥᵉₛₛᵉℓ). As vessel fills, driving pressure shrinks — PID must compensate.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5526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227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Temperature–Pressure Coupling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465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heating during pressurization + Joule-Thomson cooling during venting. Both modeled realistically.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95344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0507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PID Tuner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2153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slider, watch the 350 kPa/min pressure ramp respond in real time. Find optimal Kp, Ki, Kd visually.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 Validated Kp, Ki, Kd gains saved and transferred directly to Python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Physics: Temperature–Pressure Coupling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" cy="1051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234440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Heating (Pressurizing)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5361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flowing into the vessel compresses and heats up (adiabatic compression).  •  Temperature spike → additional pressure rise: ΔP/ΔT ≈ 0.084 MPa/°C at operating point.  •  A 2°C spike → +0.17 MPa extra pressure on top of flow-driven rise.  •  PID must be tuned carefully to avoid overcorrecting and oscillating.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24688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45973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INKBIRD Temperature Controller Lag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7706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INKBIRD PID maintains vessel at 60°C setpoint but has ~15 second response lag.  •  During rapid pressurization, vessel temperature temporarily overshoots 60°C.  •  This transient causes pressure to rise faster than the flow-driven model predicts.  •  Simulation models INKBIRD as a lagged PI controller for realistic behavior.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6400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370332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69417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Joule-Thomson Cooling (Venting)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40050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expanding through the vent valve cools significantly (Joule-Thomson effect).  •  Temperature drop → additional pressure drop beyond the vented mass alone.  •  Creates coupled depressurization behavior — 2 MPa/min rate harder to hold.  •  Depressurization PID duty cycle must compensate for this coupled cooling.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 check: START button is disabled until vessel temperature ≥ 55°C (CO₂ must be supercritical before pressurization)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Python Control Application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MODULES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754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12344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36192"/>
            <a:ext cx="119786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64208" y="1536192"/>
            <a:ext cx="33375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constants: pressures, rates, PID gains, GPIO pins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4754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39112"/>
            <a:ext cx="12344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39112"/>
            <a:ext cx="119786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2039112"/>
            <a:ext cx="33375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(Windows) OR Real RPi hardware — swap one 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4754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42032"/>
            <a:ext cx="12344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42032"/>
            <a:ext cx="119786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64208" y="2542032"/>
            <a:ext cx="33375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controller, ramp generator, state machine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4754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44952"/>
            <a:ext cx="12344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44952"/>
            <a:ext cx="119786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64208" y="3044952"/>
            <a:ext cx="33375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logging: timestamp, pressure, temp, state, valve 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4754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47872"/>
            <a:ext cx="12344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547872"/>
            <a:ext cx="119786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3547872"/>
            <a:ext cx="33375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upload every 2 sec — monitor from anywhere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50792"/>
            <a:ext cx="4754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50792"/>
            <a:ext cx="12344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050792"/>
            <a:ext cx="119786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64208" y="4050792"/>
            <a:ext cx="33375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with live pressure &amp; temperature chart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1188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15087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32120" y="225856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258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kPa/min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27797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32120" y="3008376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30083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±1–2%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35295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32120" y="3758184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758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DEPRESSURIZE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MPa/min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532120" y="4617720"/>
            <a:ext cx="320040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4617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E-STOP: cuts all outputs instantly from any state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Interface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3794760"/>
          </a:xfrm>
          <a:prstGeom prst="rect">
            <a:avLst/>
          </a:prstGeom>
          <a:solidFill>
            <a:srgbClr val="2B2B3B"/>
          </a:solidFill>
          <a:ln w="254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   ● PRESSURIZING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85216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Chart: Pressure (MPa) vs Time 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" y="3630168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3557016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31036" y="3483864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9928" y="3410712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3337560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7712" y="3264408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6604" y="3191256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25496" y="3118104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4388" y="3044952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971800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62172" y="2898648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41064" y="2825496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9956" y="2752344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679192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7740" y="2606040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56632" y="2532888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5524" y="2459736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14416" y="2386584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3308" y="2313432"/>
            <a:ext cx="2788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21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Pressure (MPa)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3721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Ramp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188720" y="3657600"/>
            <a:ext cx="32004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355080" y="1508760"/>
            <a:ext cx="23317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5819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46520" y="17647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23.85 MPa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21214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46520" y="23042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kPa/min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46520" y="266090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46520" y="28437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 °C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46520" y="32004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46520" y="3383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open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4133088"/>
            <a:ext cx="14173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1330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103120" y="4133088"/>
            <a:ext cx="1417320" cy="5029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0" y="41330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749040" y="4133088"/>
            <a:ext cx="1874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41330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DEPRESSURIZE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852160" y="4133088"/>
            <a:ext cx="164592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0" y="41330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E-STOP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disabled until vessel temperature ≥ 55°C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— Free Cloud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by MathWorks  —  Free Tier: 3 Million Messages/Year  —  No hardware modifications 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FROM ANYWHERE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54864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pressure and temperature charts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23744"/>
            <a:ext cx="54864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23744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experiment state (IDLE / PRESSURIZING / HOLDING / DEPRESSURIZING)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35808"/>
            <a:ext cx="54864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35808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alert: "Experiment complete" when IDLE state reached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47872"/>
            <a:ext cx="54864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547872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alert: "Pressure exceeded limit" if safety threshold hit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59936"/>
            <a:ext cx="54864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59936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history — download CSV directly from 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664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INTEGRATION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057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directly from the experiment into MATLAB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thingSpeakRead() pulls all channels by experiment ID — no CSV export, no manual steps.
Analyze pressure ramp accuracy, temperature correlation, and PID performance directly in MATLAB.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4023360" cy="64008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94760"/>
            <a:ext cx="384048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free account at thingspeak.com → get API key → paste into config.py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minutes. No credit card. Works in simulation mode on Windows too.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4023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cost  •  No hardware changes  •  Works from any device, anywhere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scCO₂ Pressure Control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proceeds in parallel with hardware procurement — no blocking dependencies.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1371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13716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481328"/>
            <a:ext cx="6949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51790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Simulink Digital Twin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8528" y="177393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Simscape plant model (CO₂ vessel, valve, thermal)   •   Tune PID using Simulink PID Tuner   •   Validate 350 kPa/min ramp and 2 MPa/min depress rates   •   Export Kp, Ki, Kd to configuration file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51560" y="2212848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350008"/>
            <a:ext cx="1371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13716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350008"/>
            <a:ext cx="6949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238658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Python App Development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38528" y="264261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hardware abstraction layer (sim + RPi)   •   Implement PID, state machine, ramp generator   •   Develop Tkinter GUI with live pressure/temperature chart   •   Add CSV logging and ThingSpeak cloud upload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" y="3081528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3218688"/>
            <a:ext cx="137160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18688"/>
            <a:ext cx="13716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3218688"/>
            <a:ext cx="6949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32552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 (Windows Simulation)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38528" y="351129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test in simulation mode   •   Verify all safety interlocks (E-stop, watchdog, limits)   •   Validate cloud monitoring and data logging   •   Document setup and operating procedures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51560" y="3950208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5760" y="4087368"/>
            <a:ext cx="1371600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87368"/>
            <a:ext cx="13716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Hardware Arrival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4087368"/>
            <a:ext cx="6949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38528" y="41239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Deployment &amp; CO₂ 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38528" y="437997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RPiHardware module to real sensors and actuators   •   Initial low-pressure N₂ wiring test   •   CO₂ tests: verify ramp accuracy, fine-tune PID   •   Full 28 MPa validation run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free ThingSpeak account at thingspeak.com and get API key (5 minutes)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755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MATLAB Simscape Gas/Thermal toolbox is installed (UMich license)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32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395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Simulink model build — Phase 1 (Weeks 1–2)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035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hardware: motorized valve, HP solenoid, pressure transducer (see BOM)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371246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Python app in simulation mode on Windows in parallel (Weeks 3–4)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" y="4224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28600" y="4681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Taub Research Group   |   University of Michigan MSE   | 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1389</Words>
  <Application>Microsoft Office PowerPoint</Application>
  <PresentationFormat>On-screen Show (16:9)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scCO2 Pressure Control System — Software Implementation Plan</dc:title>
  <dc:subject>PptxGenJS Presentation</dc:subject>
  <dc:creator>Taub Research Group</dc:creator>
  <cp:lastModifiedBy>Natarajan Ganesh Babu, Vijai Venkatesh</cp:lastModifiedBy>
  <cp:revision>2</cp:revision>
  <dcterms:created xsi:type="dcterms:W3CDTF">2026-03-10T06:39:39Z</dcterms:created>
  <dcterms:modified xsi:type="dcterms:W3CDTF">2026-03-10T07:12:24Z</dcterms:modified>
</cp:coreProperties>
</file>