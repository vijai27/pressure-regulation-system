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Arial"/>
              </a:defRPr>
            </a:pPr>
            <a:r>
              <a:t>SUPERCRITICAL CO₂</a:t>
            </a:r>
            <a:br/>
            <a:r>
              <a:t>PRESSURE CONTROL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ADCFC"/>
                </a:solidFill>
                <a:latin typeface="Arial"/>
              </a:defRPr>
            </a:pPr>
            <a:r>
              <a:t>Automated Pressurization &amp; Depressurization Rate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rial"/>
              </a:defRPr>
            </a:pPr>
            <a:r>
              <a:t>University of Michigan</a:t>
            </a:r>
            <a:br/>
            <a:r>
              <a:t>Materials Science &amp; Engineering</a:t>
            </a:r>
            <a:br/>
            <a:r>
              <a:t>Taub Research Group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3891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ADCFC"/>
                </a:solidFill>
                <a:latin typeface="Arial"/>
              </a:defRPr>
            </a:pPr>
            <a:r>
              <a:t>March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5276"/>
                </a:solidFill>
                <a:latin typeface="Arial"/>
              </a:defRPr>
            </a:pPr>
            <a:r>
              <a:t>THE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66573"/>
                </a:solidFill>
                <a:latin typeface="Arial"/>
              </a:defRPr>
            </a:pPr>
            <a:r>
              <a:t>Current System: Manual pressure control with no rate regulation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4023360" cy="12801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73152" cy="128016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C2833"/>
                </a:solidFill>
                <a:latin typeface="Arial"/>
              </a:defRPr>
            </a:pPr>
            <a:r>
              <a:t>No Constant Rate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66573"/>
                </a:solidFill>
                <a:latin typeface="Arial"/>
              </a:defRPr>
            </a:pPr>
            <a:r>
              <a:t>Pressurization rate varies unpredictably based on manual valve adjustment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4754880" y="1371600"/>
            <a:ext cx="4023360" cy="12801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754880" y="1371600"/>
            <a:ext cx="73152" cy="128016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37760" y="14630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C2833"/>
                </a:solidFill>
                <a:latin typeface="Arial"/>
              </a:defRPr>
            </a:pPr>
            <a:r>
              <a:t>Operator Dependent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37760" y="182880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66573"/>
                </a:solidFill>
                <a:latin typeface="Arial"/>
              </a:defRPr>
            </a:pPr>
            <a:r>
              <a:t>Results vary based on who runs the experiment and how attentive they are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926080"/>
            <a:ext cx="4023360" cy="12801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2926080"/>
            <a:ext cx="73152" cy="128016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0175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C2833"/>
                </a:solidFill>
                <a:latin typeface="Arial"/>
              </a:defRPr>
            </a:pPr>
            <a:r>
              <a:t>No Data Logging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38328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66573"/>
                </a:solidFill>
                <a:latin typeface="Arial"/>
              </a:defRPr>
            </a:pPr>
            <a:r>
              <a:t>Pressure vs time data must be recorded manually or not at all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54880" y="2926080"/>
            <a:ext cx="4023360" cy="12801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754880" y="2926080"/>
            <a:ext cx="73152" cy="128016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37760" y="30175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C2833"/>
                </a:solidFill>
                <a:latin typeface="Arial"/>
              </a:defRPr>
            </a:pPr>
            <a:r>
              <a:t>Safety Risk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37760" y="338328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66573"/>
                </a:solidFill>
                <a:latin typeface="Arial"/>
              </a:defRPr>
            </a:pPr>
            <a:r>
              <a:t>No automated overpressure protection or controlled depressurization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480560"/>
            <a:ext cx="8229600" cy="45720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45262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Research Requirement: Constant, reproducible pressurization rate of 350 kPa/min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5276"/>
                </a:solidFill>
                <a:latin typeface="Arial"/>
              </a:defRPr>
            </a:pPr>
            <a:r>
              <a:t>SYSTEM REQUIREMENTS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2103120" cy="384048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87552"/>
            <a:ext cx="1920239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Parameter</a:t>
            </a:r>
          </a:p>
        </p:txBody>
      </p:sp>
      <p:sp>
        <p:nvSpPr>
          <p:cNvPr id="5" name="Rectangle 4"/>
          <p:cNvSpPr/>
          <p:nvPr/>
        </p:nvSpPr>
        <p:spPr>
          <a:xfrm>
            <a:off x="2560320" y="914400"/>
            <a:ext cx="2286000" cy="384048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651760" y="987552"/>
            <a:ext cx="210312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Specification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846320" y="914400"/>
            <a:ext cx="3840480" cy="384048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937759" y="987552"/>
            <a:ext cx="365760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Notes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298448"/>
            <a:ext cx="210312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371600"/>
            <a:ext cx="1920239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C2833"/>
                </a:solidFill>
                <a:latin typeface="Arial"/>
              </a:defRPr>
            </a:pPr>
            <a:r>
              <a:t>Maximum Pressure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60320" y="1298448"/>
            <a:ext cx="22860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51760" y="1371600"/>
            <a:ext cx="210312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C2833"/>
                </a:solidFill>
                <a:latin typeface="Arial"/>
              </a:defRPr>
            </a:pPr>
            <a:r>
              <a:t>28 MPa (4000 psi)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46320" y="1298448"/>
            <a:ext cx="384048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37759" y="1371600"/>
            <a:ext cx="365760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C2833"/>
                </a:solidFill>
                <a:latin typeface="Arial"/>
              </a:defRPr>
            </a:pPr>
            <a:r>
              <a:t>Vessel design limit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1682495"/>
            <a:ext cx="2103120" cy="384048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1755648"/>
            <a:ext cx="1920239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C2833"/>
                </a:solidFill>
                <a:latin typeface="Arial"/>
              </a:defRPr>
            </a:pPr>
            <a:r>
              <a:t>Operating Temperature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560320" y="1682495"/>
            <a:ext cx="2286000" cy="384048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651760" y="1755648"/>
            <a:ext cx="210312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C2833"/>
                </a:solidFill>
                <a:latin typeface="Arial"/>
              </a:defRPr>
            </a:pPr>
            <a:r>
              <a:t>60°C (140°F)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846320" y="1682495"/>
            <a:ext cx="3840480" cy="384048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37759" y="1755648"/>
            <a:ext cx="365760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C2833"/>
                </a:solidFill>
                <a:latin typeface="Arial"/>
              </a:defRPr>
            </a:pPr>
            <a:r>
              <a:t>Above CO₂ critical point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2066543"/>
            <a:ext cx="210312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2139696"/>
            <a:ext cx="1920239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C2833"/>
                </a:solidFill>
                <a:latin typeface="Arial"/>
              </a:defRPr>
            </a:pPr>
            <a:r>
              <a:t>Pressurization Rate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560320" y="2066543"/>
            <a:ext cx="22860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651760" y="2139696"/>
            <a:ext cx="210312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C2833"/>
                </a:solidFill>
                <a:latin typeface="Arial"/>
              </a:defRPr>
            </a:pPr>
            <a:r>
              <a:t>350 kPa/min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846320" y="2066543"/>
            <a:ext cx="384048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937759" y="2139696"/>
            <a:ext cx="365760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C2833"/>
                </a:solidFill>
                <a:latin typeface="Arial"/>
              </a:defRPr>
            </a:pPr>
            <a:r>
              <a:t>Constant, controllable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2450591"/>
            <a:ext cx="2103120" cy="384048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2523744"/>
            <a:ext cx="1920239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C2833"/>
                </a:solidFill>
                <a:latin typeface="Arial"/>
              </a:defRPr>
            </a:pPr>
            <a:r>
              <a:t>Depressurization Rate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560320" y="2450591"/>
            <a:ext cx="2286000" cy="384048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651760" y="2523744"/>
            <a:ext cx="210312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C2833"/>
                </a:solidFill>
                <a:latin typeface="Arial"/>
              </a:defRPr>
            </a:pPr>
            <a:r>
              <a:t>2 MPa/min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846320" y="2450591"/>
            <a:ext cx="3840480" cy="384048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937759" y="2523744"/>
            <a:ext cx="365760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C2833"/>
                </a:solidFill>
                <a:latin typeface="Arial"/>
              </a:defRPr>
            </a:pPr>
            <a:r>
              <a:t>Constant, controllable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2834640"/>
            <a:ext cx="210312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8640" y="2907792"/>
            <a:ext cx="1920239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C2833"/>
                </a:solidFill>
                <a:latin typeface="Arial"/>
              </a:defRPr>
            </a:pPr>
            <a:r>
              <a:t>Rate Accuracy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560320" y="2834640"/>
            <a:ext cx="22860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651760" y="2907792"/>
            <a:ext cx="210312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C2833"/>
                </a:solidFill>
                <a:latin typeface="Arial"/>
              </a:defRPr>
            </a:pPr>
            <a:r>
              <a:t>±5-10%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846320" y="2834640"/>
            <a:ext cx="384048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937759" y="2907792"/>
            <a:ext cx="365760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C2833"/>
                </a:solidFill>
                <a:latin typeface="Arial"/>
              </a:defRPr>
            </a:pPr>
            <a:r>
              <a:t>Acceptable for research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" y="3218688"/>
            <a:ext cx="2103120" cy="384048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48640" y="3291840"/>
            <a:ext cx="1920239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C2833"/>
                </a:solidFill>
                <a:latin typeface="Arial"/>
              </a:defRPr>
            </a:pPr>
            <a:r>
              <a:t>Hold Stability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560320" y="3218688"/>
            <a:ext cx="2286000" cy="384048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651760" y="3291840"/>
            <a:ext cx="210312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C2833"/>
                </a:solidFill>
                <a:latin typeface="Arial"/>
              </a:defRPr>
            </a:pPr>
            <a:r>
              <a:t>±1-2%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846320" y="3218688"/>
            <a:ext cx="3840480" cy="384048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937759" y="3291840"/>
            <a:ext cx="365760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C2833"/>
                </a:solidFill>
                <a:latin typeface="Arial"/>
              </a:defRPr>
            </a:pPr>
            <a:r>
              <a:t>During treatment phase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57200" y="3602736"/>
            <a:ext cx="210312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48640" y="3675887"/>
            <a:ext cx="1920239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C2833"/>
                </a:solidFill>
                <a:latin typeface="Arial"/>
              </a:defRPr>
            </a:pPr>
            <a:r>
              <a:t>Control Interface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560320" y="3602736"/>
            <a:ext cx="22860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651760" y="3675887"/>
            <a:ext cx="210312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C2833"/>
                </a:solidFill>
                <a:latin typeface="Arial"/>
              </a:defRPr>
            </a:pPr>
            <a:r>
              <a:t>Remote/Automated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846320" y="3602736"/>
            <a:ext cx="384048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937759" y="3675887"/>
            <a:ext cx="365760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C2833"/>
                </a:solidFill>
                <a:latin typeface="Arial"/>
              </a:defRPr>
            </a:pPr>
            <a:r>
              <a:t>Start, stop, set parameters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E86AB"/>
                </a:solidFill>
                <a:latin typeface="Arial"/>
              </a:defRPr>
            </a:pPr>
            <a:r>
              <a:t>Key Insight: At 60°C, CO₂ is supercritical — single phase, no liquid-vapor transitions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5276"/>
                </a:solidFill>
                <a:latin typeface="Arial"/>
              </a:defRPr>
            </a:pPr>
            <a:r>
              <a:t>OPTION A: COMMERCIAL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566573"/>
                </a:solidFill>
                <a:latin typeface="Arial"/>
              </a:defRPr>
            </a:pPr>
            <a:r>
              <a:t>Emerson TESCOM ER5000 + Dome-Loaded Regulator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3931920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3931920" cy="411480"/>
          </a:xfrm>
          <a:prstGeom prst="rect">
            <a:avLst/>
          </a:prstGeom>
          <a:solidFill>
            <a:srgbClr val="28B4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ADVANTAGES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35661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C2833"/>
                </a:solidFill>
                <a:latin typeface="Arial"/>
              </a:defRPr>
            </a:pPr>
            <a:r>
              <a:t>• Turnkey solution — minimal engineering</a:t>
            </a:r>
            <a:br/>
            <a:r>
              <a:t>• Industrial-grade reliability</a:t>
            </a:r>
            <a:br/>
            <a:r>
              <a:t>• Proven for high-pressure gas service</a:t>
            </a:r>
            <a:br/>
            <a:r>
              <a:t>• Technical support from Emerson</a:t>
            </a:r>
          </a:p>
        </p:txBody>
      </p:sp>
      <p:sp>
        <p:nvSpPr>
          <p:cNvPr id="8" name="Rectangle 7"/>
          <p:cNvSpPr/>
          <p:nvPr/>
        </p:nvSpPr>
        <p:spPr>
          <a:xfrm>
            <a:off x="4754880" y="1188720"/>
            <a:ext cx="3931920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754880" y="1188720"/>
            <a:ext cx="3931920" cy="41148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0" y="123444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DISADVANTAGES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37760" y="1691640"/>
            <a:ext cx="35661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C2833"/>
                </a:solidFill>
                <a:latin typeface="Arial"/>
              </a:defRPr>
            </a:pPr>
            <a:r>
              <a:t>• Cost: $8,000 - $15,000+</a:t>
            </a:r>
            <a:br/>
            <a:r>
              <a:t>• Lead time: 6-8 weeks for configured valves</a:t>
            </a:r>
            <a:br/>
            <a:r>
              <a:t>• Proprietary software (ERtune)</a:t>
            </a:r>
            <a:br/>
            <a:r>
              <a:t>• Limited data logging capability</a:t>
            </a:r>
            <a:br/>
            <a:r>
              <a:t>• No integrated thermodynamics for scCO₂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931920"/>
            <a:ext cx="8229600" cy="50292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40233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rial"/>
              </a:defRPr>
            </a:pPr>
            <a:r>
              <a:t>Total Estimated Cost: $12,000 - $15,000  |  Timeline: 3-4 months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5276"/>
                </a:solidFill>
                <a:latin typeface="Arial"/>
              </a:defRPr>
            </a:pPr>
            <a:r>
              <a:t>OPTION B: DIY CONTROL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566573"/>
                </a:solidFill>
                <a:latin typeface="Arial"/>
              </a:defRPr>
            </a:pPr>
            <a:r>
              <a:t>Custom-built solution using industrial components + microcontroller/DAQ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3931920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3931920" cy="411480"/>
          </a:xfrm>
          <a:prstGeom prst="rect">
            <a:avLst/>
          </a:prstGeom>
          <a:solidFill>
            <a:srgbClr val="28B4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ADVANTAGES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35661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C2833"/>
                </a:solidFill>
                <a:latin typeface="Arial"/>
              </a:defRPr>
            </a:pPr>
            <a:r>
              <a:t>• Cost: $2,500 - $3,500 (80% savings)</a:t>
            </a:r>
            <a:br/>
            <a:r>
              <a:t>• Timeline: 4-6 weeks</a:t>
            </a:r>
            <a:br/>
            <a:r>
              <a:t>• Full control over software and data</a:t>
            </a:r>
            <a:br/>
            <a:r>
              <a:t>• Integrated data logging for research</a:t>
            </a:r>
            <a:br/>
            <a:r>
              <a:t>• Expandable and customizable</a:t>
            </a:r>
            <a:br/>
            <a:r>
              <a:t>• Learning opportunity for lab</a:t>
            </a:r>
          </a:p>
        </p:txBody>
      </p:sp>
      <p:sp>
        <p:nvSpPr>
          <p:cNvPr id="8" name="Rectangle 7"/>
          <p:cNvSpPr/>
          <p:nvPr/>
        </p:nvSpPr>
        <p:spPr>
          <a:xfrm>
            <a:off x="4754880" y="1188720"/>
            <a:ext cx="3931920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754880" y="1188720"/>
            <a:ext cx="3931920" cy="41148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0" y="123444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CONSIDERATIONS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37760" y="1691640"/>
            <a:ext cx="35661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C2833"/>
                </a:solidFill>
                <a:latin typeface="Arial"/>
              </a:defRPr>
            </a:pPr>
            <a:r>
              <a:t>• Requires integration effort</a:t>
            </a:r>
            <a:br/>
            <a:r>
              <a:t>• Rate accuracy: ±5-10% (vs ±2% commercial)</a:t>
            </a:r>
            <a:br/>
            <a:r>
              <a:t>• Documentation and maintenance on us</a:t>
            </a:r>
            <a:br/>
            <a:r>
              <a:t>• Some trial-and-error in tuning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931920"/>
            <a:ext cx="8229600" cy="502920"/>
          </a:xfrm>
          <a:prstGeom prst="rect">
            <a:avLst/>
          </a:prstGeom>
          <a:solidFill>
            <a:srgbClr val="28B4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40233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rial"/>
              </a:defRPr>
            </a:pPr>
            <a:r>
              <a:t>Total Estimated Cost: $2,500 - $3,500  |  Timeline: 4-6 weeks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5276"/>
                </a:solidFill>
                <a:latin typeface="Arial"/>
              </a:defRPr>
            </a:pPr>
            <a:r>
              <a:t>PROPOSED 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66573"/>
                </a:solidFill>
                <a:latin typeface="Arial"/>
              </a:defRPr>
            </a:pPr>
            <a:r>
              <a:t>Direct CO₂ flow control between booster and vessel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051560"/>
            <a:ext cx="1280160" cy="685800"/>
          </a:xfrm>
          <a:prstGeom prst="rect">
            <a:avLst/>
          </a:prstGeom>
          <a:solidFill>
            <a:srgbClr val="5665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097280"/>
            <a:ext cx="1280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  <a:r>
              <a:t>CO₂</a:t>
            </a:r>
            <a:br/>
            <a:r>
              <a:t>Cylinder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0" y="1051560"/>
            <a:ext cx="1280160" cy="685800"/>
          </a:xfrm>
          <a:prstGeom prst="rect">
            <a:avLst/>
          </a:prstGeom>
          <a:solidFill>
            <a:srgbClr val="5665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0" y="1097280"/>
            <a:ext cx="1280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  <a:r>
              <a:t>Victor</a:t>
            </a:r>
            <a:br/>
            <a:r>
              <a:t>Regulator</a:t>
            </a:r>
          </a:p>
        </p:txBody>
      </p:sp>
      <p:sp>
        <p:nvSpPr>
          <p:cNvPr id="8" name="Rectangle 7"/>
          <p:cNvSpPr/>
          <p:nvPr/>
        </p:nvSpPr>
        <p:spPr>
          <a:xfrm>
            <a:off x="3383280" y="1051560"/>
            <a:ext cx="1280160" cy="6858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83280" y="1097280"/>
            <a:ext cx="1280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  <a:r>
              <a:t>Air-Driven</a:t>
            </a:r>
            <a:br/>
            <a:r>
              <a:t>Booster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1051560"/>
            <a:ext cx="1371600" cy="685800"/>
          </a:xfrm>
          <a:prstGeom prst="rect">
            <a:avLst/>
          </a:prstGeom>
          <a:solidFill>
            <a:srgbClr val="28B4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0" y="1097280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  <a:r>
              <a:t>MOTORIZED</a:t>
            </a:r>
            <a:br/>
            <a:r>
              <a:t>NEEDLE VALVE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0" y="1051560"/>
            <a:ext cx="1280160" cy="68580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0" y="1097280"/>
            <a:ext cx="1280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  <a:r>
              <a:t>Pressure</a:t>
            </a:r>
            <a:br/>
            <a:r>
              <a:t>Vessel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123444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1C2833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08960" y="123444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1C2833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123444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1C2833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123444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1C2833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011680" y="2011680"/>
            <a:ext cx="5029200" cy="1554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011680" y="2011680"/>
            <a:ext cx="5029200" cy="32004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011680" y="2029968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CONTROL SYSTEM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94560" y="2377440"/>
            <a:ext cx="4663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C2833"/>
                </a:solidFill>
                <a:latin typeface="Arial"/>
              </a:defRPr>
            </a:pPr>
            <a:r>
              <a:t>• Pressure Transducer → reads vessel pressure (4-20mA)</a:t>
            </a:r>
            <a:br/>
            <a:r>
              <a:t>• Controller (RPi/LabVIEW) → runs PID algorithm</a:t>
            </a:r>
            <a:br/>
            <a:r>
              <a:t>• Stepper Motor → adjusts needle valve position</a:t>
            </a:r>
            <a:br/>
            <a:r>
              <a:t>• PWM Solenoid → controls depressurization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7680" y="1783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8B463"/>
                </a:solidFill>
                <a:latin typeface="Arial"/>
              </a:defRPr>
            </a:pPr>
            <a:r>
              <a:t>↑ Feedback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3749039"/>
            <a:ext cx="8229600" cy="41148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3822191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KEY: Motorized valve provides DIRECT control of CO₂ flow to vessel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5276"/>
                </a:solidFill>
                <a:latin typeface="Arial"/>
              </a:defRPr>
            </a:pPr>
            <a:r>
              <a:t>P&amp;ID SCHEMATIC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731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8B463"/>
                </a:solidFill>
                <a:latin typeface="Arial"/>
              </a:defRPr>
            </a:pPr>
            <a:r>
              <a:t>PRESSURIZATION PATH: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4114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C2833"/>
                </a:solidFill>
                <a:latin typeface="Arial"/>
              </a:defRPr>
            </a:pPr>
            <a:r>
              <a:t>CO₂ Tank (850 psi) → Victor Regulator (800 psi out) → </a:t>
            </a:r>
            <a:br/>
            <a:r>
              <a:t>Air-Driven Booster (28 MPa out) → MOTORIZED NEEDLE VALVE → </a:t>
            </a:r>
            <a:br/>
            <a:r>
              <a:t>Check Valve → Pressure Vessel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9202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74C3C"/>
                </a:solidFill>
                <a:latin typeface="Arial"/>
              </a:defRPr>
            </a:pPr>
            <a:r>
              <a:t>DEPRESSURIZATION PATH: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2194560"/>
            <a:ext cx="4114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C2833"/>
                </a:solidFill>
                <a:latin typeface="Arial"/>
              </a:defRPr>
            </a:pPr>
            <a:r>
              <a:t>Pressure Vessel → PWM Solenoid Valve → </a:t>
            </a:r>
            <a:br/>
            <a:r>
              <a:t>Manual Needle Valve (flow limiter) → Vent to Fume Hood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29260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5276"/>
                </a:solidFill>
                <a:latin typeface="Arial"/>
              </a:defRPr>
            </a:pPr>
            <a:r>
              <a:t>CONTROL LOOP: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3200400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C2833"/>
                </a:solidFill>
                <a:latin typeface="Arial"/>
              </a:defRPr>
            </a:pPr>
            <a:r>
              <a:t>Pressure Transducer (4-20mA) → Signal Conditioner → </a:t>
            </a:r>
            <a:br/>
            <a:r>
              <a:t>Controller (PID) → Stepper Driver → Motorized Valve</a:t>
            </a:r>
            <a:br/>
            <a:r>
              <a:t>                ↘ PWM Signal → SSR → Vent Solenoid</a:t>
            </a:r>
          </a:p>
        </p:txBody>
      </p:sp>
      <p:sp>
        <p:nvSpPr>
          <p:cNvPr id="9" name="Rectangle 8"/>
          <p:cNvSpPr/>
          <p:nvPr/>
        </p:nvSpPr>
        <p:spPr>
          <a:xfrm>
            <a:off x="4754880" y="731520"/>
            <a:ext cx="3931920" cy="3474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46320" y="777240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5276"/>
                </a:solidFill>
                <a:latin typeface="Arial"/>
              </a:defRPr>
            </a:pPr>
            <a:r>
              <a:t>COMPONENT LOCATIONS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1051560"/>
            <a:ext cx="3749039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/>
            <a:pPr algn="l">
              <a:defRPr sz="800" b="0">
                <a:solidFill>
                  <a:srgbClr val="1C2833"/>
                </a:solidFill>
                <a:latin typeface="Courier New"/>
              </a:defRPr>
            </a:pPr>
            <a:r>
              <a:t>┌─────────────────────────────────────┐</a:t>
            </a:r>
            <a:br/>
            <a:r>
              <a:t>│                                     │</a:t>
            </a:r>
            <a:br/>
            <a:r>
              <a:t>│   [CO₂ TANK]  →  [VICTOR REG]      │</a:t>
            </a:r>
            <a:br/>
            <a:r>
              <a:t>│        ↓                            │</a:t>
            </a:r>
            <a:br/>
            <a:r>
              <a:t>│   [BOOSTER]  →  [MOTORIZED VALVE]  │</a:t>
            </a:r>
            <a:br/>
            <a:r>
              <a:t>│        ↓              ↓             │</a:t>
            </a:r>
            <a:br/>
            <a:r>
              <a:t>│   [AIR REG]    [PRESSURE VESSEL]   │</a:t>
            </a:r>
            <a:br/>
            <a:r>
              <a:t>│                      ↓              │</a:t>
            </a:r>
            <a:br/>
            <a:r>
              <a:t>│              [PWM SOLENOID]         │</a:t>
            </a:r>
            <a:br/>
            <a:r>
              <a:t>│                      ↓              │</a:t>
            </a:r>
            <a:br/>
            <a:r>
              <a:t>│                  [VENT]             │</a:t>
            </a:r>
            <a:br/>
            <a:r>
              <a:t>│                                     │</a:t>
            </a:r>
            <a:br/>
            <a:r>
              <a:t>└─────────────────────────────────────┘</a:t>
            </a:r>
            <a:br/>
          </a:p>
        </p:txBody>
      </p:sp>
      <p:sp>
        <p:nvSpPr>
          <p:cNvPr id="12" name="TextBox 11"/>
          <p:cNvSpPr txBox="1"/>
          <p:nvPr/>
        </p:nvSpPr>
        <p:spPr>
          <a:xfrm>
            <a:off x="457200" y="42976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66573"/>
                </a:solidFill>
                <a:latin typeface="Arial"/>
              </a:defRPr>
            </a:pPr>
            <a:r>
              <a:t>Note: Existing equipment in GRAY, new components in GREEN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5276"/>
                </a:solidFill>
                <a:latin typeface="Arial"/>
              </a:defRPr>
            </a:pPr>
            <a:r>
              <a:t>HOW THE CONTROL LOOP WORKS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274320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822960"/>
            <a:ext cx="2743200" cy="365760"/>
          </a:xfrm>
          <a:prstGeom prst="rect">
            <a:avLst/>
          </a:prstGeom>
          <a:solidFill>
            <a:srgbClr val="28B4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PRESSURIZE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2560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C2833"/>
                </a:solidFill>
                <a:latin typeface="Arial"/>
              </a:defRPr>
            </a:pPr>
            <a:r>
              <a:t>Controller opens motorized valve to allow CO₂ flow. PID adjusts valve position to maintain dP/dt = 350 kPa/min until target.</a:t>
            </a:r>
          </a:p>
        </p:txBody>
      </p:sp>
      <p:sp>
        <p:nvSpPr>
          <p:cNvPr id="7" name="Rectangle 6"/>
          <p:cNvSpPr/>
          <p:nvPr/>
        </p:nvSpPr>
        <p:spPr>
          <a:xfrm>
            <a:off x="3337560" y="822960"/>
            <a:ext cx="274320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337560" y="822960"/>
            <a:ext cx="2743200" cy="36576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37560" y="8686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HOLD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9000" y="1280160"/>
            <a:ext cx="2560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C2833"/>
                </a:solidFill>
                <a:latin typeface="Arial"/>
              </a:defRPr>
            </a:pPr>
            <a:r>
              <a:t>Target pressure reached. Controller maintains setpoint by small adjustments. Vessel held at 28 MPa, 60°C for treatment.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822960"/>
            <a:ext cx="274320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822960"/>
            <a:ext cx="2743200" cy="36576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0" y="8686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DEPRESSURIZE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59" y="1280160"/>
            <a:ext cx="2560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C2833"/>
                </a:solidFill>
                <a:latin typeface="Arial"/>
              </a:defRPr>
            </a:pPr>
            <a:r>
              <a:t>PWM solenoid opens in pulses to vent CO₂ at controlled rate. PID adjusts duty cycle for -dP/dt = 2 MPa/min.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83464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5276"/>
                </a:solidFill>
                <a:latin typeface="Arial"/>
              </a:defRPr>
            </a:pPr>
            <a:r>
              <a:t>PID Control Algorithm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2004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1C2833"/>
                </a:solidFill>
                <a:latin typeface="Courier New"/>
              </a:defRPr>
            </a:pPr>
            <a:r>
              <a:t>Output = Kp × Error + Ki × ∫Error + Kd × dError/dt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6576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66573"/>
                </a:solidFill>
                <a:latin typeface="Arial"/>
              </a:defRPr>
            </a:pPr>
            <a:r>
              <a:t>Error = Setpoint - Measured Pressure  |  Setpoint ramps linearly: P(t) = P₀ + (rate × time)  |  Controller adjusts valve until Error → 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206240"/>
            <a:ext cx="8229600" cy="41148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4279392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A5276"/>
                </a:solidFill>
                <a:latin typeface="Arial"/>
              </a:defRPr>
            </a:pPr>
            <a:r>
              <a:t>Pressurize 0→28 MPa: ~80 min  |  Hold: variable  |  Depressurize 28→0 MPa: ~14 min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5276"/>
                </a:solidFill>
                <a:latin typeface="Arial"/>
              </a:defRPr>
            </a:pPr>
            <a:r>
              <a:t>BILL OF MATERIALS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31520"/>
            <a:ext cx="2560320" cy="347472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786384"/>
            <a:ext cx="24688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Arial"/>
              </a:defRPr>
            </a:pPr>
            <a:r>
              <a:t>Component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3017520" y="731520"/>
            <a:ext cx="3657600" cy="347472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063239" y="786384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Arial"/>
              </a:defRPr>
            </a:pPr>
            <a:r>
              <a:t>Part Number / Description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675120" y="731520"/>
            <a:ext cx="1097280" cy="347472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20840" y="786384"/>
            <a:ext cx="10058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Arial"/>
              </a:defRPr>
            </a:pPr>
            <a:r>
              <a:t>Est. Cost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078992"/>
            <a:ext cx="256032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133856"/>
            <a:ext cx="24688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C2833"/>
                </a:solidFill>
                <a:latin typeface="Arial"/>
              </a:defRPr>
            </a:pPr>
            <a:r>
              <a:t>Motorized Needle Valve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017520" y="1078992"/>
            <a:ext cx="365760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63239" y="1133856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C2833"/>
                </a:solidFill>
                <a:latin typeface="Arial"/>
              </a:defRPr>
            </a:pPr>
            <a:r>
              <a:t>HiP valve + NEMA 17 stepper + coupling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675120" y="1078992"/>
            <a:ext cx="109728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20840" y="1133856"/>
            <a:ext cx="10058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C2833"/>
                </a:solidFill>
                <a:latin typeface="Arial"/>
              </a:defRPr>
            </a:pPr>
            <a:r>
              <a:t>$800-1,200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1426464"/>
            <a:ext cx="2560320" cy="347472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1481328"/>
            <a:ext cx="24688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C2833"/>
                </a:solidFill>
                <a:latin typeface="Arial"/>
              </a:defRPr>
            </a:pPr>
            <a:r>
              <a:t>HP Solenoid (depress)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017520" y="1426464"/>
            <a:ext cx="3657600" cy="347472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63239" y="1481328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C2833"/>
                </a:solidFill>
                <a:latin typeface="Arial"/>
              </a:defRPr>
            </a:pPr>
            <a:r>
              <a:t>Clark Cooper EH40-04-D024-XP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675120" y="1426464"/>
            <a:ext cx="1097280" cy="347472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20840" y="1481328"/>
            <a:ext cx="10058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C2833"/>
                </a:solidFill>
                <a:latin typeface="Arial"/>
              </a:defRPr>
            </a:pPr>
            <a:r>
              <a:t>$600-700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1773936"/>
            <a:ext cx="256032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1828800"/>
            <a:ext cx="24688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C2833"/>
                </a:solidFill>
                <a:latin typeface="Arial"/>
              </a:defRPr>
            </a:pPr>
            <a:r>
              <a:t>Pressure Transducer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017520" y="1773936"/>
            <a:ext cx="365760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063239" y="1828800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C2833"/>
                </a:solidFill>
                <a:latin typeface="Arial"/>
              </a:defRPr>
            </a:pPr>
            <a:r>
              <a:t>Omega PX309-5KGI (0-35 MPa)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675120" y="1773936"/>
            <a:ext cx="109728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20840" y="1828800"/>
            <a:ext cx="10058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C2833"/>
                </a:solidFill>
                <a:latin typeface="Arial"/>
              </a:defRPr>
            </a:pPr>
            <a:r>
              <a:t>$300-350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2121408"/>
            <a:ext cx="2560320" cy="347472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2176272"/>
            <a:ext cx="24688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C2833"/>
                </a:solidFill>
                <a:latin typeface="Arial"/>
              </a:defRPr>
            </a:pPr>
            <a:r>
              <a:t>Needle Valve (vent)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017520" y="2121408"/>
            <a:ext cx="3657600" cy="347472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063239" y="2176272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C2833"/>
                </a:solidFill>
                <a:latin typeface="Arial"/>
              </a:defRPr>
            </a:pPr>
            <a:r>
              <a:t>Swagelok SS-1RS4-A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675120" y="2121408"/>
            <a:ext cx="1097280" cy="347472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720840" y="2176272"/>
            <a:ext cx="10058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C2833"/>
                </a:solidFill>
                <a:latin typeface="Arial"/>
              </a:defRPr>
            </a:pPr>
            <a:r>
              <a:t>$150-180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2468880"/>
            <a:ext cx="256032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2920" y="2523744"/>
            <a:ext cx="24688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C2833"/>
                </a:solidFill>
                <a:latin typeface="Arial"/>
              </a:defRPr>
            </a:pPr>
            <a:r>
              <a:t>Check Valve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017520" y="2468880"/>
            <a:ext cx="365760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063239" y="2523744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C2833"/>
                </a:solidFill>
                <a:latin typeface="Arial"/>
              </a:defRPr>
            </a:pPr>
            <a:r>
              <a:t>Swagelok SS-4C-1/3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675120" y="2468880"/>
            <a:ext cx="109728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720840" y="2523744"/>
            <a:ext cx="10058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C2833"/>
                </a:solidFill>
                <a:latin typeface="Arial"/>
              </a:defRPr>
            </a:pPr>
            <a:r>
              <a:t>$80-100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" y="2816352"/>
            <a:ext cx="2560320" cy="347472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02920" y="2871216"/>
            <a:ext cx="24688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C2833"/>
                </a:solidFill>
                <a:latin typeface="Arial"/>
              </a:defRPr>
            </a:pPr>
            <a:r>
              <a:t>HP Fittings &amp; Tubing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017520" y="2816352"/>
            <a:ext cx="3657600" cy="347472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063239" y="2871216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C2833"/>
                </a:solidFill>
                <a:latin typeface="Arial"/>
              </a:defRPr>
            </a:pPr>
            <a:r>
              <a:t>Various Swagelok 1/4" HP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675120" y="2816352"/>
            <a:ext cx="1097280" cy="347472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720840" y="2871216"/>
            <a:ext cx="10058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C2833"/>
                </a:solidFill>
                <a:latin typeface="Arial"/>
              </a:defRPr>
            </a:pPr>
            <a:r>
              <a:t>$250-300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57200" y="3163824"/>
            <a:ext cx="256032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02920" y="3218688"/>
            <a:ext cx="24688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C2833"/>
                </a:solidFill>
                <a:latin typeface="Arial"/>
              </a:defRPr>
            </a:pPr>
            <a:r>
              <a:t>Controller (Option A)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017520" y="3163824"/>
            <a:ext cx="365760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063239" y="3218688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C2833"/>
                </a:solidFill>
                <a:latin typeface="Arial"/>
              </a:defRPr>
            </a:pPr>
            <a:r>
              <a:t>Raspberry Pi 4 + ADC/DAC HAT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675120" y="3163824"/>
            <a:ext cx="109728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720840" y="3218688"/>
            <a:ext cx="10058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C2833"/>
                </a:solidFill>
                <a:latin typeface="Arial"/>
              </a:defRPr>
            </a:pPr>
            <a:r>
              <a:t>$150-200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57200" y="3511296"/>
            <a:ext cx="2560320" cy="347472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02920" y="3566160"/>
            <a:ext cx="24688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C2833"/>
                </a:solidFill>
                <a:latin typeface="Arial"/>
              </a:defRPr>
            </a:pPr>
            <a:r>
              <a:t>Controller (Option B)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017520" y="3511296"/>
            <a:ext cx="3657600" cy="347472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063239" y="3566160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C2833"/>
                </a:solidFill>
                <a:latin typeface="Arial"/>
              </a:defRPr>
            </a:pPr>
            <a:r>
              <a:t>NI USB-6001 + LabVIEW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675120" y="3511296"/>
            <a:ext cx="1097280" cy="347472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720840" y="3566160"/>
            <a:ext cx="10058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C2833"/>
                </a:solidFill>
                <a:latin typeface="Arial"/>
              </a:defRPr>
            </a:pPr>
            <a:r>
              <a:t>$400-500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57200" y="3858768"/>
            <a:ext cx="256032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02920" y="3913631"/>
            <a:ext cx="24688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C2833"/>
                </a:solidFill>
                <a:latin typeface="Arial"/>
              </a:defRPr>
            </a:pPr>
            <a:r>
              <a:t>Stepper Driver &amp; PSU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017520" y="3858768"/>
            <a:ext cx="365760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063239" y="3913631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C2833"/>
                </a:solidFill>
                <a:latin typeface="Arial"/>
              </a:defRPr>
            </a:pPr>
            <a:r>
              <a:t>TB6600 + Mean Well 24V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675120" y="3858768"/>
            <a:ext cx="109728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720840" y="3913631"/>
            <a:ext cx="10058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C2833"/>
                </a:solidFill>
                <a:latin typeface="Arial"/>
              </a:defRPr>
            </a:pPr>
            <a:r>
              <a:t>$80-100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57200" y="4206240"/>
            <a:ext cx="2560320" cy="347472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02920" y="4261103"/>
            <a:ext cx="24688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C2833"/>
                </a:solidFill>
                <a:latin typeface="Arial"/>
              </a:defRPr>
            </a:pPr>
            <a:r>
              <a:t>Wiring, Enclosure, Misc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017520" y="4206240"/>
            <a:ext cx="3657600" cy="347472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063239" y="4261103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C2833"/>
                </a:solidFill>
                <a:latin typeface="Arial"/>
              </a:defRPr>
            </a:pPr>
            <a:r>
              <a:t>Various electrical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675120" y="4206240"/>
            <a:ext cx="1097280" cy="347472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720840" y="4261103"/>
            <a:ext cx="10058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C2833"/>
                </a:solidFill>
                <a:latin typeface="Arial"/>
              </a:defRPr>
            </a:pPr>
            <a:r>
              <a:t>$100-150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846320" y="4572000"/>
            <a:ext cx="2926080" cy="457200"/>
          </a:xfrm>
          <a:prstGeom prst="rect">
            <a:avLst/>
          </a:prstGeom>
          <a:solidFill>
            <a:srgbClr val="28B4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846320" y="46177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rial"/>
              </a:defRPr>
            </a:pPr>
            <a:r>
              <a:t>TOTAL: $2,500 - $3,500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5276"/>
                </a:solidFill>
                <a:latin typeface="Arial"/>
              </a:defRPr>
            </a:pPr>
            <a:r>
              <a:t>CONTROLLER OPTIONS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77240"/>
            <a:ext cx="3931920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777240"/>
            <a:ext cx="3931920" cy="36576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RASPBERRY PI + PYTHON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234440"/>
            <a:ext cx="365760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C2833"/>
                </a:solidFill>
                <a:latin typeface="Arial"/>
              </a:defRPr>
            </a:pPr>
            <a:r>
              <a:t>Hardware:</a:t>
            </a:r>
            <a:br/>
            <a:r>
              <a:t>• Raspberry Pi 4 (4GB RAM)</a:t>
            </a:r>
            <a:br/>
            <a:r>
              <a:t>• ADS1115 ADC (4-20mA input)</a:t>
            </a:r>
            <a:br/>
            <a:r>
              <a:t>• MCP4725 DAC (analog output)</a:t>
            </a:r>
            <a:br/>
            <a:r>
              <a:t>• TB6600 Stepper Driver</a:t>
            </a:r>
            <a:br/>
            <a:br/>
            <a:r>
              <a:t>Software:</a:t>
            </a:r>
            <a:br/>
            <a:r>
              <a:t>• Python with simple-pid library</a:t>
            </a:r>
            <a:br/>
            <a:r>
              <a:t>• Custom GUI (Tkinter/PyQt)</a:t>
            </a:r>
            <a:br/>
            <a:r>
              <a:t>• CSV data logging built-in</a:t>
            </a:r>
            <a:br/>
            <a:br/>
            <a:r>
              <a:t>Cost: ~$200 | Flexible &amp; customizable</a:t>
            </a:r>
          </a:p>
        </p:txBody>
      </p:sp>
      <p:sp>
        <p:nvSpPr>
          <p:cNvPr id="7" name="Rectangle 6"/>
          <p:cNvSpPr/>
          <p:nvPr/>
        </p:nvSpPr>
        <p:spPr>
          <a:xfrm>
            <a:off x="4754880" y="777240"/>
            <a:ext cx="3931920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754880" y="777240"/>
            <a:ext cx="3931920" cy="36576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0" y="82296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NI DAQ + LABVIEW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92040" y="1234440"/>
            <a:ext cx="365760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C2833"/>
                </a:solidFill>
                <a:latin typeface="Arial"/>
              </a:defRPr>
            </a:pPr>
            <a:r>
              <a:t>Hardware:</a:t>
            </a:r>
            <a:br/>
            <a:r>
              <a:t>• NI USB-6001 or CompactDAQ</a:t>
            </a:r>
            <a:br/>
            <a:r>
              <a:t>• Built-in AI/AO/DIO channels</a:t>
            </a:r>
            <a:br/>
            <a:r>
              <a:t>• Industrial-grade signal conditioning</a:t>
            </a:r>
            <a:br/>
            <a:br/>
            <a:r>
              <a:t>Software:</a:t>
            </a:r>
            <a:br/>
            <a:r>
              <a:t>• LabVIEW (UMich has licenses)</a:t>
            </a:r>
            <a:br/>
            <a:r>
              <a:t>• Built-in PID toolkit</a:t>
            </a:r>
            <a:br/>
            <a:r>
              <a:t>• Professional GUI tools</a:t>
            </a:r>
            <a:br/>
            <a:r>
              <a:t>• TDMS data logging</a:t>
            </a:r>
            <a:br/>
            <a:br/>
            <a:r>
              <a:t>Cost: ~$500 | Industry standard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114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66573"/>
                </a:solidFill>
                <a:latin typeface="Arial"/>
              </a:defRPr>
            </a:pPr>
            <a:r>
              <a:t>Recommendation: Start with Raspberry Pi for flexibility; upgrade to LabVIEW if needed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5276"/>
                </a:solidFill>
                <a:latin typeface="Arial"/>
              </a:defRPr>
            </a:pPr>
            <a:r>
              <a:t>RASPBERRY PI IMPLEMENTATION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77240"/>
            <a:ext cx="4114800" cy="3291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5276"/>
                </a:solidFill>
                <a:latin typeface="Arial"/>
              </a:defRPr>
            </a:pPr>
            <a:r>
              <a:t>WIRING CONNECTIONS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39319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/>
            <a:pPr algn="l">
              <a:defRPr sz="800" b="0">
                <a:solidFill>
                  <a:srgbClr val="1C2833"/>
                </a:solidFill>
                <a:latin typeface="Courier New"/>
              </a:defRPr>
            </a:pPr>
            <a:r>
              <a:t>PRESSURE TRANSDUCER (4-20mA):</a:t>
            </a:r>
            <a:br/>
            <a:r>
              <a:t>  Wire+ → 250Ω resistor → ADS1115 A0</a:t>
            </a:r>
            <a:br/>
            <a:r>
              <a:t>  Wire- → GND (common with RPi)</a:t>
            </a:r>
            <a:br/>
            <a:r>
              <a:t>  Result: 1-5V input to ADC</a:t>
            </a:r>
            <a:br/>
            <a:br/>
            <a:r>
              <a:t>STEPPER MOTOR (TB6600 driver):</a:t>
            </a:r>
            <a:br/>
            <a:r>
              <a:t>  TB6600 PUL+ → GPIO 17</a:t>
            </a:r>
            <a:br/>
            <a:r>
              <a:t>  TB6600 DIR+ → GPIO 27</a:t>
            </a:r>
            <a:br/>
            <a:r>
              <a:t>  TB6600 ENA+ → GPIO 22</a:t>
            </a:r>
            <a:br/>
            <a:r>
              <a:t>  All negative → GND</a:t>
            </a:r>
            <a:br/>
            <a:r>
              <a:t>  Motor → TB6600 A+/A-/B+/B-</a:t>
            </a:r>
            <a:br/>
            <a:br/>
            <a:r>
              <a:t>PWM SOLENOID:</a:t>
            </a:r>
            <a:br/>
            <a:r>
              <a:t>  GPIO 18 → SSR input (+)</a:t>
            </a:r>
            <a:br/>
            <a:r>
              <a:t>  GND → SSR input (-)</a:t>
            </a:r>
            <a:br/>
            <a:r>
              <a:t>  SSR output → 24V solenoid</a:t>
            </a:r>
            <a:br/>
            <a:br/>
            <a:r>
              <a:t>E-STOP:</a:t>
            </a:r>
            <a:br/>
            <a:r>
              <a:t>  NC button → GPIO 4 (w/ pullup)</a:t>
            </a:r>
            <a:br/>
            <a:r>
              <a:t>  Also wired to power relay</a:t>
            </a:r>
            <a:br/>
          </a:p>
        </p:txBody>
      </p:sp>
      <p:sp>
        <p:nvSpPr>
          <p:cNvPr id="6" name="Rectangle 5"/>
          <p:cNvSpPr/>
          <p:nvPr/>
        </p:nvSpPr>
        <p:spPr>
          <a:xfrm>
            <a:off x="4754880" y="777240"/>
            <a:ext cx="3931920" cy="3291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846320" y="822960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5276"/>
                </a:solidFill>
                <a:latin typeface="Arial"/>
              </a:defRPr>
            </a:pPr>
            <a:r>
              <a:t>SOFTWARE MODULES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46320" y="1097280"/>
            <a:ext cx="3749039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/>
            <a:pPr algn="l">
              <a:defRPr sz="800" b="0">
                <a:solidFill>
                  <a:srgbClr val="1C2833"/>
                </a:solidFill>
                <a:latin typeface="Courier New"/>
              </a:defRPr>
            </a:pPr>
            <a:r>
              <a:t>main.py</a:t>
            </a:r>
            <a:br/>
            <a:r>
              <a:t>├── config.py      # Constants, pins, PID params</a:t>
            </a:r>
            <a:br/>
            <a:r>
              <a:t>├── sensors.py     # ADC reading, calibration</a:t>
            </a:r>
            <a:br/>
            <a:r>
              <a:t>├── actuators.py   # Stepper control, PWM</a:t>
            </a:r>
            <a:br/>
            <a:r>
              <a:t>├── pid.py         # PID controller logic</a:t>
            </a:r>
            <a:br/>
            <a:r>
              <a:t>├── state_machine.py  # IDLE/PRESS/HOLD/DEPRESS</a:t>
            </a:r>
            <a:br/>
            <a:r>
              <a:t>├── safety.py      # E-stop, limits, watchdog</a:t>
            </a:r>
            <a:br/>
            <a:r>
              <a:t>├── logger.py      # CSV data recording</a:t>
            </a:r>
            <a:br/>
            <a:r>
              <a:t>└── gui.py         # Tkinter interface</a:t>
            </a:r>
            <a:br/>
            <a:br/>
            <a:r>
              <a:t>Key Libraries:</a:t>
            </a:r>
            <a:br/>
            <a:r>
              <a:t>• simple-pid (PID control)</a:t>
            </a:r>
            <a:br/>
            <a:r>
              <a:t>• adafruit-ads1x15 (ADC)</a:t>
            </a:r>
            <a:br/>
            <a:r>
              <a:t>• RPi.GPIO (IO control)</a:t>
            </a:r>
            <a:br/>
            <a:r>
              <a:t>• tkinter (GUI)</a:t>
            </a:r>
            <a:br/>
          </a:p>
        </p:txBody>
      </p:sp>
      <p:sp>
        <p:nvSpPr>
          <p:cNvPr id="9" name="TextBox 8"/>
          <p:cNvSpPr txBox="1"/>
          <p:nvPr/>
        </p:nvSpPr>
        <p:spPr>
          <a:xfrm>
            <a:off x="457200" y="42062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66573"/>
                </a:solidFill>
                <a:latin typeface="Arial"/>
              </a:defRPr>
            </a:pPr>
            <a:r>
              <a:t>Full Python code and GUI template available — estimated 40-60 hours development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5276"/>
                </a:solidFill>
                <a:latin typeface="Arial"/>
              </a:defRPr>
            </a:pPr>
            <a:r>
              <a:t>LABVIEW IMPLEMENTATION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77240"/>
            <a:ext cx="411480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5276"/>
                </a:solidFill>
                <a:latin typeface="Arial"/>
              </a:defRPr>
            </a:pPr>
            <a:r>
              <a:t>NI USB-6001 CONNECTIONS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39319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/>
            <a:pPr algn="l">
              <a:defRPr sz="900" b="0">
                <a:solidFill>
                  <a:srgbClr val="1C2833"/>
                </a:solidFill>
                <a:latin typeface="Courier New"/>
              </a:defRPr>
            </a:pPr>
            <a:r>
              <a:t>ANALOG INPUT (AI0):</a:t>
            </a:r>
            <a:br/>
            <a:r>
              <a:t>  Pressure transducer 4-20mA</a:t>
            </a:r>
            <a:br/>
            <a:r>
              <a:t>  Through 250Ω → 1-5V</a:t>
            </a:r>
            <a:br/>
            <a:br/>
            <a:r>
              <a:t>ANALOG OUTPUT (AO0):</a:t>
            </a:r>
            <a:br/>
            <a:r>
              <a:t>  E/P regulator control (if using)</a:t>
            </a:r>
            <a:br/>
            <a:r>
              <a:t>  0-5V → 4-20mA converter</a:t>
            </a:r>
            <a:br/>
            <a:br/>
            <a:r>
              <a:t>DIGITAL OUTPUT (P0.0):</a:t>
            </a:r>
            <a:br/>
            <a:r>
              <a:t>  SSR for solenoid PWM</a:t>
            </a:r>
            <a:br/>
            <a:br/>
            <a:r>
              <a:t>DIGITAL OUTPUT (P0.1-P0.3):</a:t>
            </a:r>
            <a:br/>
            <a:r>
              <a:t>  Stepper PUL/DIR/ENA</a:t>
            </a:r>
            <a:br/>
            <a:br/>
            <a:r>
              <a:t>DIGITAL INPUT (P1.0):</a:t>
            </a:r>
            <a:br/>
            <a:r>
              <a:t>  E-stop button</a:t>
            </a:r>
            <a:br/>
          </a:p>
        </p:txBody>
      </p:sp>
      <p:sp>
        <p:nvSpPr>
          <p:cNvPr id="6" name="Rectangle 5"/>
          <p:cNvSpPr/>
          <p:nvPr/>
        </p:nvSpPr>
        <p:spPr>
          <a:xfrm>
            <a:off x="4754880" y="777240"/>
            <a:ext cx="393192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846320" y="822960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5276"/>
                </a:solidFill>
                <a:latin typeface="Arial"/>
              </a:defRPr>
            </a:pPr>
            <a:r>
              <a:t>LABVIEW VI STRUCTURE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46320" y="1097280"/>
            <a:ext cx="3749039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/>
            <a:pPr algn="l">
              <a:defRPr sz="900" b="0">
                <a:solidFill>
                  <a:srgbClr val="1C2833"/>
                </a:solidFill>
                <a:latin typeface="Courier New"/>
              </a:defRPr>
            </a:pPr>
            <a:r>
              <a:t>Main.vi</a:t>
            </a:r>
            <a:br/>
            <a:r>
              <a:t>├── Initialize.vi (DAQ setup)</a:t>
            </a:r>
            <a:br/>
            <a:r>
              <a:t>├── AcquirePressure.vi (AI read)</a:t>
            </a:r>
            <a:br/>
            <a:r>
              <a:t>├── PID_Control.vi (built-in PID)</a:t>
            </a:r>
            <a:br/>
            <a:r>
              <a:t>├── StepperControl.vi (DO pulses)</a:t>
            </a:r>
            <a:br/>
            <a:r>
              <a:t>├── PWM_Control.vi (software PWM)</a:t>
            </a:r>
            <a:br/>
            <a:r>
              <a:t>├── StateMachine.vi (modes)</a:t>
            </a:r>
            <a:br/>
            <a:r>
              <a:t>├── SafetyCheck.vi (limits)</a:t>
            </a:r>
            <a:br/>
            <a:r>
              <a:t>└── DataLog.vi (TDMS write)</a:t>
            </a:r>
            <a:br/>
            <a:br/>
            <a:r>
              <a:t>Use Producer-Consumer pattern</a:t>
            </a:r>
            <a:br/>
            <a:r>
              <a:t>with queued message handler</a:t>
            </a:r>
            <a:br/>
          </a:p>
        </p:txBody>
      </p:sp>
      <p:sp>
        <p:nvSpPr>
          <p:cNvPr id="9" name="Rectangle 8"/>
          <p:cNvSpPr/>
          <p:nvPr/>
        </p:nvSpPr>
        <p:spPr>
          <a:xfrm>
            <a:off x="457200" y="2743200"/>
            <a:ext cx="8229600" cy="128016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788920"/>
            <a:ext cx="8046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5276"/>
                </a:solidFill>
                <a:latin typeface="Arial"/>
              </a:defRPr>
            </a:pPr>
            <a:r>
              <a:t>LABVIEW ADVANTAGES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063240"/>
            <a:ext cx="8046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C2833"/>
                </a:solidFill>
                <a:latin typeface="Arial"/>
              </a:defRPr>
            </a:pPr>
            <a:r>
              <a:t>• Built-in PID toolkit with auto-tune capability     • TDMS binary logging (faster than CSV, smaller files)</a:t>
            </a:r>
            <a:br/>
            <a:r>
              <a:t>• DAQmx drivers handle all timing/buffering          • Professional front panel design tools</a:t>
            </a:r>
            <a:br/>
            <a:r>
              <a:t>• Real-time plotting and trend display               • Easy to hand off to future students</a:t>
            </a:r>
            <a:br/>
            <a:r>
              <a:t>• UMich has campus-wide license — no cost            • Industry standard in research labs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160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8B463"/>
                </a:solidFill>
                <a:latin typeface="Arial"/>
              </a:defRPr>
            </a:pPr>
            <a:r>
              <a:t>Check with MSE department — may already have NI DAQ hardware available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5276"/>
                </a:solidFill>
                <a:latin typeface="Arial"/>
              </a:defRPr>
            </a:pPr>
            <a:r>
              <a:t>IMPLEMENTATION TIMELINE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66573"/>
                </a:solidFill>
                <a:latin typeface="Arial"/>
              </a:defRPr>
            </a:pPr>
            <a:r>
              <a:t>Target: Complete system operational within 4-6 weeks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097280" cy="50292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Week 1</a:t>
            </a:r>
          </a:p>
        </p:txBody>
      </p:sp>
      <p:sp>
        <p:nvSpPr>
          <p:cNvPr id="6" name="Rectangle 5"/>
          <p:cNvSpPr/>
          <p:nvPr/>
        </p:nvSpPr>
        <p:spPr>
          <a:xfrm>
            <a:off x="1645920" y="1005840"/>
            <a:ext cx="704088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737360" y="105156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E86AB"/>
                </a:solidFill>
                <a:latin typeface="Arial"/>
              </a:defRPr>
            </a:pPr>
            <a:r>
              <a:t>PROCUREMENT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1280160"/>
            <a:ext cx="6858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66573"/>
                </a:solidFill>
                <a:latin typeface="Arial"/>
              </a:defRPr>
            </a:pPr>
            <a:r>
              <a:t>Order all components; submit POs; verify specs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645920"/>
            <a:ext cx="1097280" cy="50292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7373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Week 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645920" y="1645920"/>
            <a:ext cx="704088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737360" y="169164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E86AB"/>
                </a:solidFill>
                <a:latin typeface="Arial"/>
              </a:defRPr>
            </a:pPr>
            <a:r>
              <a:t>MECHANICAL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1920240"/>
            <a:ext cx="6858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66573"/>
                </a:solidFill>
                <a:latin typeface="Arial"/>
              </a:defRPr>
            </a:pPr>
            <a:r>
              <a:t>Install valves &amp; fittings; pressure test with N₂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286000"/>
            <a:ext cx="1097280" cy="502920"/>
          </a:xfrm>
          <a:prstGeom prst="rect">
            <a:avLst/>
          </a:prstGeom>
          <a:solidFill>
            <a:srgbClr val="28B4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37744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Week 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645920" y="2286000"/>
            <a:ext cx="704088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737360" y="233172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8B463"/>
                </a:solidFill>
                <a:latin typeface="Arial"/>
              </a:defRPr>
            </a:pPr>
            <a:r>
              <a:t>ELECTRICAL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37360" y="2560320"/>
            <a:ext cx="6858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66573"/>
                </a:solidFill>
                <a:latin typeface="Arial"/>
              </a:defRPr>
            </a:pPr>
            <a:r>
              <a:t>Wire sensors &amp; actuators; verify signals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2926079"/>
            <a:ext cx="1097280" cy="502920"/>
          </a:xfrm>
          <a:prstGeom prst="rect">
            <a:avLst/>
          </a:prstGeom>
          <a:solidFill>
            <a:srgbClr val="28B4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30175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Week 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645920" y="2926079"/>
            <a:ext cx="704088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737360" y="2971799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8B463"/>
                </a:solidFill>
                <a:latin typeface="Arial"/>
              </a:defRPr>
            </a:pPr>
            <a:r>
              <a:t>SOFTWARE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37360" y="3200399"/>
            <a:ext cx="6858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66573"/>
                </a:solidFill>
                <a:latin typeface="Arial"/>
              </a:defRPr>
            </a:pPr>
            <a:r>
              <a:t>Develop control code; bench test with air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3566160"/>
            <a:ext cx="1097280" cy="50292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36576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Week 5-6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645920" y="3566160"/>
            <a:ext cx="704088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737360" y="3611879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5276"/>
                </a:solidFill>
                <a:latin typeface="Arial"/>
              </a:defRPr>
            </a:pPr>
            <a:r>
              <a:t>COMMISSION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737360" y="3840480"/>
            <a:ext cx="6858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66573"/>
                </a:solidFill>
                <a:latin typeface="Arial"/>
              </a:defRPr>
            </a:pPr>
            <a:r>
              <a:t>CO₂ tests; PID tuning; validate ramp rates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436168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Critical Path: Motorized valve assembly and HP solenoid — order in Week 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5276"/>
                </a:solidFill>
                <a:latin typeface="Arial"/>
              </a:defRPr>
            </a:pPr>
            <a:r>
              <a:t>COMPARISON 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77240"/>
            <a:ext cx="1828800" cy="36576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85039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Factor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0" y="777240"/>
            <a:ext cx="3200400" cy="36576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377440" y="850392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Commercial (Emerson)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0" y="777240"/>
            <a:ext cx="3200400" cy="36576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577840" y="850392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DIY System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143000"/>
            <a:ext cx="18288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21615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C2833"/>
                </a:solidFill>
                <a:latin typeface="Arial"/>
              </a:defRPr>
            </a:pPr>
            <a:r>
              <a:t>Cost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0" y="1143000"/>
            <a:ext cx="32004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77440" y="1216152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C2833"/>
                </a:solidFill>
                <a:latin typeface="Arial"/>
              </a:defRPr>
            </a:pPr>
            <a:r>
              <a:t>$12,000 - $15,000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0" y="1143000"/>
            <a:ext cx="3200400" cy="365760"/>
          </a:xfrm>
          <a:prstGeom prst="rect">
            <a:avLst/>
          </a:prstGeom>
          <a:solidFill>
            <a:srgbClr val="E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577840" y="1216152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C2833"/>
                </a:solidFill>
                <a:latin typeface="Arial"/>
              </a:defRPr>
            </a:pPr>
            <a:r>
              <a:t>$2,500 - $3,500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1508760"/>
            <a:ext cx="1828800" cy="36576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158191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C2833"/>
                </a:solidFill>
                <a:latin typeface="Arial"/>
              </a:defRPr>
            </a:pPr>
            <a:r>
              <a:t>Timeline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86000" y="1508760"/>
            <a:ext cx="3200400" cy="36576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377440" y="1581912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C2833"/>
                </a:solidFill>
                <a:latin typeface="Arial"/>
              </a:defRPr>
            </a:pPr>
            <a:r>
              <a:t>3-4 months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0" y="1508760"/>
            <a:ext cx="3200400" cy="365760"/>
          </a:xfrm>
          <a:prstGeom prst="rect">
            <a:avLst/>
          </a:prstGeom>
          <a:solidFill>
            <a:srgbClr val="E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577840" y="1581912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C2833"/>
                </a:solidFill>
                <a:latin typeface="Arial"/>
              </a:defRPr>
            </a:pPr>
            <a:r>
              <a:t>4-6 weeks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1874520"/>
            <a:ext cx="18288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194767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C2833"/>
                </a:solidFill>
                <a:latin typeface="Arial"/>
              </a:defRPr>
            </a:pPr>
            <a:r>
              <a:t>Rate Accuracy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286000" y="1874520"/>
            <a:ext cx="32004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377440" y="1947672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C2833"/>
                </a:solidFill>
                <a:latin typeface="Arial"/>
              </a:defRPr>
            </a:pPr>
            <a:r>
              <a:t>±2-3%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0" y="1874520"/>
            <a:ext cx="3200400" cy="365760"/>
          </a:xfrm>
          <a:prstGeom prst="rect">
            <a:avLst/>
          </a:prstGeom>
          <a:solidFill>
            <a:srgbClr val="E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577840" y="1947672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C2833"/>
                </a:solidFill>
                <a:latin typeface="Arial"/>
              </a:defRPr>
            </a:pPr>
            <a:r>
              <a:t>±5-10%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2240280"/>
            <a:ext cx="1828800" cy="36576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231343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C2833"/>
                </a:solidFill>
                <a:latin typeface="Arial"/>
              </a:defRPr>
            </a:pPr>
            <a:r>
              <a:t>Data Logging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286000" y="2240280"/>
            <a:ext cx="3200400" cy="36576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377440" y="2313432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C2833"/>
                </a:solidFill>
                <a:latin typeface="Arial"/>
              </a:defRPr>
            </a:pPr>
            <a:r>
              <a:t>Limited (proprietary)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0" y="2240280"/>
            <a:ext cx="3200400" cy="365760"/>
          </a:xfrm>
          <a:prstGeom prst="rect">
            <a:avLst/>
          </a:prstGeom>
          <a:solidFill>
            <a:srgbClr val="E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577840" y="2313432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C2833"/>
                </a:solidFill>
                <a:latin typeface="Arial"/>
              </a:defRPr>
            </a:pPr>
            <a:r>
              <a:t>Full (custom format)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2606040"/>
            <a:ext cx="18288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8640" y="267919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C2833"/>
                </a:solidFill>
                <a:latin typeface="Arial"/>
              </a:defRPr>
            </a:pPr>
            <a:r>
              <a:t>Customization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286000" y="2606040"/>
            <a:ext cx="32004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377440" y="2679192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C2833"/>
                </a:solidFill>
                <a:latin typeface="Arial"/>
              </a:defRPr>
            </a:pPr>
            <a:r>
              <a:t>Limited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86400" y="2606040"/>
            <a:ext cx="3200400" cy="365760"/>
          </a:xfrm>
          <a:prstGeom prst="rect">
            <a:avLst/>
          </a:prstGeom>
          <a:solidFill>
            <a:srgbClr val="E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577840" y="2679192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C2833"/>
                </a:solidFill>
                <a:latin typeface="Arial"/>
              </a:defRPr>
            </a:pPr>
            <a:r>
              <a:t>Unlimited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" y="2971800"/>
            <a:ext cx="1828800" cy="36576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48640" y="304495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C2833"/>
                </a:solidFill>
                <a:latin typeface="Arial"/>
              </a:defRPr>
            </a:pPr>
            <a:r>
              <a:t>Support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286000" y="2971800"/>
            <a:ext cx="3200400" cy="36576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377440" y="3044952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C2833"/>
                </a:solidFill>
                <a:latin typeface="Arial"/>
              </a:defRPr>
            </a:pPr>
            <a:r>
              <a:t>Emerson tech support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486400" y="2971800"/>
            <a:ext cx="3200400" cy="365760"/>
          </a:xfrm>
          <a:prstGeom prst="rect">
            <a:avLst/>
          </a:prstGeom>
          <a:solidFill>
            <a:srgbClr val="E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577840" y="3044952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C2833"/>
                </a:solidFill>
                <a:latin typeface="Arial"/>
              </a:defRPr>
            </a:pPr>
            <a:r>
              <a:t>Self + community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57200" y="3337560"/>
            <a:ext cx="18288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48640" y="341071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C2833"/>
                </a:solidFill>
                <a:latin typeface="Arial"/>
              </a:defRPr>
            </a:pPr>
            <a:r>
              <a:t>Learning Value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286000" y="3337560"/>
            <a:ext cx="32004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377440" y="3410712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C2833"/>
                </a:solidFill>
                <a:latin typeface="Arial"/>
              </a:defRPr>
            </a:pPr>
            <a:r>
              <a:t>Minimal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486400" y="3337560"/>
            <a:ext cx="3200400" cy="365760"/>
          </a:xfrm>
          <a:prstGeom prst="rect">
            <a:avLst/>
          </a:prstGeom>
          <a:solidFill>
            <a:srgbClr val="E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577840" y="3410712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C2833"/>
                </a:solidFill>
                <a:latin typeface="Arial"/>
              </a:defRPr>
            </a:pPr>
            <a:r>
              <a:t>Significant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57200" y="3703320"/>
            <a:ext cx="1828800" cy="36576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48640" y="377647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C2833"/>
                </a:solidFill>
                <a:latin typeface="Arial"/>
              </a:defRPr>
            </a:pPr>
            <a:r>
              <a:t>Upgrade Path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286000" y="3703320"/>
            <a:ext cx="3200400" cy="36576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377440" y="3776472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C2833"/>
                </a:solidFill>
                <a:latin typeface="Arial"/>
              </a:defRPr>
            </a:pPr>
            <a:r>
              <a:t>Emerson ecosystem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486400" y="3703320"/>
            <a:ext cx="3200400" cy="365760"/>
          </a:xfrm>
          <a:prstGeom prst="rect">
            <a:avLst/>
          </a:prstGeom>
          <a:solidFill>
            <a:srgbClr val="E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577840" y="3776472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C2833"/>
                </a:solidFill>
                <a:latin typeface="Arial"/>
              </a:defRPr>
            </a:pPr>
            <a:r>
              <a:t>Open platform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57200" y="4297680"/>
            <a:ext cx="8229600" cy="457200"/>
          </a:xfrm>
          <a:prstGeom prst="rect">
            <a:avLst/>
          </a:prstGeom>
          <a:solidFill>
            <a:srgbClr val="28B4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57200" y="43891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RECOMMENDATION: DIY system provides 80% of performance at 20% of cost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5276"/>
                </a:solidFill>
                <a:latin typeface="Arial"/>
              </a:defRPr>
            </a:pPr>
            <a:r>
              <a:t>SAFETY CONSIDERATIONS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77240"/>
            <a:ext cx="411480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777240"/>
            <a:ext cx="4114800" cy="32004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80467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HAZARDS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3931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C2833"/>
                </a:solidFill>
                <a:latin typeface="Arial"/>
              </a:defRPr>
            </a:pPr>
            <a:r>
              <a:t>• Overpressure → vessel rupture</a:t>
            </a:r>
            <a:br/>
            <a:r>
              <a:t>• Rapid depressurization → dry ice, cold burns</a:t>
            </a:r>
            <a:br/>
            <a:r>
              <a:t>• Fitting failure → high-velocity jet</a:t>
            </a:r>
            <a:br/>
            <a:r>
              <a:t>• CO₂ accumulation → asphyxiation risk</a:t>
            </a:r>
            <a:br/>
            <a:r>
              <a:t>• Electrical → 24VDC, solenoid coils</a:t>
            </a:r>
          </a:p>
        </p:txBody>
      </p:sp>
      <p:sp>
        <p:nvSpPr>
          <p:cNvPr id="7" name="Rectangle 6"/>
          <p:cNvSpPr/>
          <p:nvPr/>
        </p:nvSpPr>
        <p:spPr>
          <a:xfrm>
            <a:off x="4754880" y="777240"/>
            <a:ext cx="393192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754880" y="777240"/>
            <a:ext cx="3931920" cy="320040"/>
          </a:xfrm>
          <a:prstGeom prst="rect">
            <a:avLst/>
          </a:prstGeom>
          <a:solidFill>
            <a:srgbClr val="28B4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0" y="804672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MITIGATIONS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0" y="1143000"/>
            <a:ext cx="3749039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C2833"/>
                </a:solidFill>
                <a:latin typeface="Arial"/>
              </a:defRPr>
            </a:pPr>
            <a:r>
              <a:t>• Relief valve at 30 MPa (exists on vessel)</a:t>
            </a:r>
            <a:br/>
            <a:r>
              <a:t>• Software limits at 28 MPa (setpoint max)</a:t>
            </a:r>
            <a:br/>
            <a:r>
              <a:t>• Controlled vent rate via PWM solenoid</a:t>
            </a:r>
            <a:br/>
            <a:r>
              <a:t>• Fume hood operation during vent</a:t>
            </a:r>
            <a:br/>
            <a:r>
              <a:t>• Hardwired E-stop (power cutoff)</a:t>
            </a:r>
            <a:br/>
            <a:r>
              <a:t>• Torque all fittings to spec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743200"/>
            <a:ext cx="8229600" cy="128016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788920"/>
            <a:ext cx="8046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5276"/>
                </a:solidFill>
                <a:latin typeface="Arial"/>
              </a:defRPr>
            </a:pPr>
            <a:r>
              <a:t>REQUIRED SAFETY EQUIPMENT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063240"/>
            <a:ext cx="8046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C2833"/>
                </a:solidFill>
                <a:latin typeface="Arial"/>
              </a:defRPr>
            </a:pPr>
            <a:r>
              <a:t>• Mechanical relief valve (30 MPa set) — VERIFY EXISTING ON VESSEL</a:t>
            </a:r>
            <a:br/>
            <a:r>
              <a:t>• Rupture disc (32 MPa backup) — RECOMMENDED TO ADD</a:t>
            </a:r>
            <a:br/>
            <a:r>
              <a:t>• Check valve on booster output — PREVENTS BACKFLOW</a:t>
            </a:r>
            <a:br/>
            <a:r>
              <a:t>• Independent analog pressure gauge — BACKUP TO TRANSDUCER (already have)</a:t>
            </a:r>
            <a:br/>
            <a:r>
              <a:t>• E-stop button with power cutoff — ADD TO CONTROL PANEL</a:t>
            </a:r>
            <a:br/>
            <a:r>
              <a:t>• CO₂ monitor with 5000 ppm alarm — CHECK LAB EQUIPMENT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1148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A5276"/>
                </a:solidFill>
                <a:latin typeface="Arial"/>
              </a:defRPr>
            </a:pPr>
            <a:r>
              <a:t>Fail-Safe Design: Power loss → booster stops, solenoid closes, vessel holds pressure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NEXT STEPS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411480" cy="411480"/>
          </a:xfrm>
          <a:prstGeom prst="rect">
            <a:avLst/>
          </a:prstGeom>
          <a:solidFill>
            <a:srgbClr val="28B4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161288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rial"/>
              </a:defRPr>
            </a:pPr>
            <a:r>
              <a:t>Confirm requirements with Dandan — rate accuracy tolerance?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91640"/>
            <a:ext cx="411480" cy="411480"/>
          </a:xfrm>
          <a:prstGeom prst="rect">
            <a:avLst/>
          </a:prstGeom>
          <a:solidFill>
            <a:srgbClr val="28B4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737360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755648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rial"/>
              </a:defRPr>
            </a:pPr>
            <a:r>
              <a:t>Approve budget ($2,500 - $3,500) with professor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286000"/>
            <a:ext cx="411480" cy="411480"/>
          </a:xfrm>
          <a:prstGeom prst="rect">
            <a:avLst/>
          </a:prstGeom>
          <a:solidFill>
            <a:srgbClr val="28B4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331720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50008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rial"/>
              </a:defRPr>
            </a:pPr>
            <a:r>
              <a:t>Order critical components this week (motorized valve, solenoid)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880360"/>
            <a:ext cx="411480" cy="411480"/>
          </a:xfrm>
          <a:prstGeom prst="rect">
            <a:avLst/>
          </a:prstGeom>
          <a:solidFill>
            <a:srgbClr val="28B4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926080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2944368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rial"/>
              </a:defRPr>
            </a:pPr>
            <a:r>
              <a:t>Select controller platform (Raspberry Pi vs LabVIEW)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474720"/>
            <a:ext cx="411480" cy="411480"/>
          </a:xfrm>
          <a:prstGeom prst="rect">
            <a:avLst/>
          </a:prstGeom>
          <a:solidFill>
            <a:srgbClr val="28B4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3520439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3538727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rial"/>
              </a:defRPr>
            </a:pPr>
            <a:r>
              <a:t>Check MSE for available DAQ hardware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069080"/>
            <a:ext cx="411480" cy="411480"/>
          </a:xfrm>
          <a:prstGeom prst="rect">
            <a:avLst/>
          </a:prstGeom>
          <a:solidFill>
            <a:srgbClr val="28B4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4114800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4133088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rial"/>
              </a:defRPr>
            </a:pPr>
            <a:r>
              <a:t>Begin mechanical installation in Week 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CADCFC"/>
                </a:solidFill>
                <a:latin typeface="Arial"/>
              </a:defRPr>
            </a:pPr>
            <a:r>
              <a:t>Questions?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5276"/>
                </a:solidFill>
                <a:latin typeface="Arial"/>
              </a:defRPr>
            </a:pPr>
            <a:r>
              <a:t>APPENDIX: SUPPLIER CONTACTS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77240"/>
            <a:ext cx="2011680" cy="384048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850392"/>
            <a:ext cx="182880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Arial"/>
              </a:defRPr>
            </a:pPr>
            <a:r>
              <a:t>Component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2468880" y="777240"/>
            <a:ext cx="2286000" cy="384048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60320" y="850392"/>
            <a:ext cx="210312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Arial"/>
              </a:defRPr>
            </a:pPr>
            <a:r>
              <a:t>Supplier</a:t>
            </a:r>
          </a:p>
        </p:txBody>
      </p:sp>
      <p:sp>
        <p:nvSpPr>
          <p:cNvPr id="7" name="Rectangle 6"/>
          <p:cNvSpPr/>
          <p:nvPr/>
        </p:nvSpPr>
        <p:spPr>
          <a:xfrm>
            <a:off x="4754880" y="777240"/>
            <a:ext cx="3931920" cy="384048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46320" y="850392"/>
            <a:ext cx="3749039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Arial"/>
              </a:defRPr>
            </a:pPr>
            <a:r>
              <a:t>Contact / Notes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161288"/>
            <a:ext cx="201168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234440"/>
            <a:ext cx="182880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C2833"/>
                </a:solidFill>
                <a:latin typeface="Arial"/>
              </a:defRPr>
            </a:pPr>
            <a:r>
              <a:t>HP Solenoid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68880" y="1161288"/>
            <a:ext cx="22860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1234440"/>
            <a:ext cx="210312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C2833"/>
                </a:solidFill>
                <a:latin typeface="Arial"/>
              </a:defRPr>
            </a:pPr>
            <a:r>
              <a:t>Clark Cooper (Magnatrol)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54880" y="1161288"/>
            <a:ext cx="393192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46320" y="1234440"/>
            <a:ext cx="3749039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C2833"/>
                </a:solidFill>
                <a:latin typeface="Arial"/>
              </a:defRPr>
            </a:pPr>
            <a:r>
              <a:t>(973) 887-6400 | clarkcooper.com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1545336"/>
            <a:ext cx="2011680" cy="384048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1618488"/>
            <a:ext cx="182880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C2833"/>
                </a:solidFill>
                <a:latin typeface="Arial"/>
              </a:defRPr>
            </a:pPr>
            <a:r>
              <a:t>E/P Regulator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468880" y="1545336"/>
            <a:ext cx="2286000" cy="384048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560320" y="1618488"/>
            <a:ext cx="210312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C2833"/>
                </a:solidFill>
                <a:latin typeface="Arial"/>
              </a:defRPr>
            </a:pPr>
            <a:r>
              <a:t>SMC Corporation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754880" y="1545336"/>
            <a:ext cx="3931920" cy="384048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46320" y="1618488"/>
            <a:ext cx="3749039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C2833"/>
                </a:solidFill>
                <a:latin typeface="Arial"/>
              </a:defRPr>
            </a:pPr>
            <a:r>
              <a:t>(800) 762-7621 | smcusa.com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1929384"/>
            <a:ext cx="201168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2002536"/>
            <a:ext cx="182880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C2833"/>
                </a:solidFill>
                <a:latin typeface="Arial"/>
              </a:defRPr>
            </a:pPr>
            <a:r>
              <a:t>Pressure Transducer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68880" y="1929384"/>
            <a:ext cx="22860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560320" y="2002536"/>
            <a:ext cx="210312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C2833"/>
                </a:solidFill>
                <a:latin typeface="Arial"/>
              </a:defRPr>
            </a:pPr>
            <a:r>
              <a:t>Omega Engineering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754880" y="1929384"/>
            <a:ext cx="393192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46320" y="2002536"/>
            <a:ext cx="3749039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C2833"/>
                </a:solidFill>
                <a:latin typeface="Arial"/>
              </a:defRPr>
            </a:pPr>
            <a:r>
              <a:t>(800) 826-6342 | omega.com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2313432"/>
            <a:ext cx="2011680" cy="384048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2386584"/>
            <a:ext cx="182880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C2833"/>
                </a:solidFill>
                <a:latin typeface="Arial"/>
              </a:defRPr>
            </a:pPr>
            <a:r>
              <a:t>Swagelok Fittings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468880" y="2313432"/>
            <a:ext cx="2286000" cy="384048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560320" y="2386584"/>
            <a:ext cx="210312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C2833"/>
                </a:solidFill>
                <a:latin typeface="Arial"/>
              </a:defRPr>
            </a:pPr>
            <a:r>
              <a:t>Michigan Fluid Power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754880" y="2313432"/>
            <a:ext cx="3931920" cy="384048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846320" y="2386584"/>
            <a:ext cx="3749039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C2833"/>
                </a:solidFill>
                <a:latin typeface="Arial"/>
              </a:defRPr>
            </a:pPr>
            <a:r>
              <a:t>(734) 213-8000 | Local pickup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2697480"/>
            <a:ext cx="201168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8640" y="2770632"/>
            <a:ext cx="182880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C2833"/>
                </a:solidFill>
                <a:latin typeface="Arial"/>
              </a:defRPr>
            </a:pPr>
            <a:r>
              <a:t>NI DAQ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468880" y="2697480"/>
            <a:ext cx="22860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560320" y="2770632"/>
            <a:ext cx="210312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C2833"/>
                </a:solidFill>
                <a:latin typeface="Arial"/>
              </a:defRPr>
            </a:pPr>
            <a:r>
              <a:t>National Instruments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754880" y="2697480"/>
            <a:ext cx="393192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846320" y="2770632"/>
            <a:ext cx="3749039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C2833"/>
                </a:solidFill>
                <a:latin typeface="Arial"/>
              </a:defRPr>
            </a:pPr>
            <a:r>
              <a:t>(888) 280-7645 | ni.com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" y="3081528"/>
            <a:ext cx="2011680" cy="384048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48640" y="3154680"/>
            <a:ext cx="182880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C2833"/>
                </a:solidFill>
                <a:latin typeface="Arial"/>
              </a:defRPr>
            </a:pPr>
            <a:r>
              <a:t>Raspberry Pi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468880" y="3081528"/>
            <a:ext cx="2286000" cy="384048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560320" y="3154680"/>
            <a:ext cx="210312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C2833"/>
                </a:solidFill>
                <a:latin typeface="Arial"/>
              </a:defRPr>
            </a:pPr>
            <a:r>
              <a:t>Digi-Key / Adafruit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754880" y="3081528"/>
            <a:ext cx="3931920" cy="384048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846320" y="3154680"/>
            <a:ext cx="3749039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C2833"/>
                </a:solidFill>
                <a:latin typeface="Arial"/>
              </a:defRPr>
            </a:pPr>
            <a:r>
              <a:t>digikey.com | adafruit.com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57200" y="3465576"/>
            <a:ext cx="201168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48640" y="3538728"/>
            <a:ext cx="182880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C2833"/>
                </a:solidFill>
                <a:latin typeface="Arial"/>
              </a:defRPr>
            </a:pPr>
            <a:r>
              <a:t>Stepper Motors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468880" y="3465576"/>
            <a:ext cx="22860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560320" y="3538728"/>
            <a:ext cx="210312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C2833"/>
                </a:solidFill>
                <a:latin typeface="Arial"/>
              </a:defRPr>
            </a:pPr>
            <a:r>
              <a:t>StepperOnline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754880" y="3465576"/>
            <a:ext cx="393192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846320" y="3538728"/>
            <a:ext cx="3749039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C2833"/>
                </a:solidFill>
                <a:latin typeface="Arial"/>
              </a:defRPr>
            </a:pPr>
            <a:r>
              <a:t>omc-stepperonline.com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57200" y="3849624"/>
            <a:ext cx="2011680" cy="384048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48640" y="3922776"/>
            <a:ext cx="182880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C2833"/>
                </a:solidFill>
                <a:latin typeface="Arial"/>
              </a:defRPr>
            </a:pPr>
            <a:r>
              <a:t>CO₂ Gas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468880" y="3849624"/>
            <a:ext cx="2286000" cy="384048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560320" y="3922776"/>
            <a:ext cx="210312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C2833"/>
                </a:solidFill>
                <a:latin typeface="Arial"/>
              </a:defRPr>
            </a:pPr>
            <a:r>
              <a:t>Cryogenic Gases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754880" y="3849624"/>
            <a:ext cx="3931920" cy="384048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846320" y="3922776"/>
            <a:ext cx="3749039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C2833"/>
                </a:solidFill>
                <a:latin typeface="Arial"/>
              </a:defRPr>
            </a:pPr>
            <a:r>
              <a:t>(313) 835-5513 | Already using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66573"/>
                </a:solidFill>
                <a:latin typeface="Arial"/>
              </a:defRPr>
            </a:pPr>
            <a:r>
              <a:t>Note: Get quotes before ordering — prices may vary. Check for UMich vendor agreements.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